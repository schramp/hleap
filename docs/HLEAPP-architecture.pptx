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HLEAPP wraps ALEAPP (ALEAPP Logs, Events, and Protobuf Parser) as a Hansken extraction plugin. This deck covers the design choices, the runtime flow, how files are found, what ends up in Hansken, and the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run ALEAPP on files Hansken already extracted, without changing ALEAPP. Hansken owns the evidence and the index; ALEAPP owns the Android knowledge; HLEAPP is the bridge.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plugin and ALEAPP cannot share a Python environment (protobuf conflict), so ALEAPP runs as a child process in its own venv. They talk over one end of a socketpair passed to the child (hleapp_rpc.py, length-prefixed JSON). File bytes never cross the channel: the plugin writes them straight into ALEAPP's data folder on the shared container disk.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a deferred plugin cannot search the traces its own matcher selects, every file ALEAPP needs except the anchor must stay outside the matcher. anchors.py derives one anchor per module, drops generic and conflicting modules, and the profile narrows the set to the example: Google Maps, Life360, AirTag, Mister Skinnylegs browser modules and imagemngCache.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to 4 happen in the plugin and the launcher; steps 5 and 6 are the RPC handler search_and_stage, served on the process() thread because the Hansken searcher is only valid there; ALEAPP then parses as usual. On the example this gives 4 Google Maps directions.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glob_query() builds a query that finds at least every match; the Stager then applies the exact glob and the search scope. The scope rule solved duplicate runs: the Life360 cache modules anchor on 9 journal files, and without the scope each run would stage every cache entry of every folder.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guard fixed the first Hansken test: Hansken unpacked the report zip, found the copied gmm_storage.db, and the plugin ran on its own output again and again.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Findings from ALEAPP output for the example tree and from lavafuncs.py. Mapping onto the Hansken event and geolocation data types (property names from the Hansken trace model) is issue #8.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 tests cover the logic without Hansken; the SDK standalone test framework runs the real plugin with HQL-Lite searches over testdata/input. Real Hansken runs use the debug log to close the gap.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on the critical path is merged. The next Hansken run, with the file.path fix, should show staged files and non-empty artifacts for Google Maps, Life360 and AirTag.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36"/>
        </a:solidFill>
        <a:effectLst/>
      </p:bgPr>
    </p:bg>
    <p:spTree>
      <p:nvGrpSpPr>
        <p:cNvPr id="1" name=""/>
        <p:cNvGrpSpPr/>
        <p:nvPr/>
      </p:nvGrpSpPr>
      <p:grpSpPr/>
      <p:sp>
        <p:nvSpPr>
          <p:cNvPr id="2" name="Oval 1"/>
          <p:cNvSpPr/>
          <p:nvPr/>
        </p:nvSpPr>
        <p:spPr>
          <a:xfrm>
            <a:off x="548640" y="1417320"/>
            <a:ext cx="822960" cy="82296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a:solidFill>
                  <a:srgbClr val="1F2A36"/>
                </a:solidFill>
                <a:latin typeface="Calibri"/>
              </a:rPr>
              <a:t>H</a:t>
            </a:r>
          </a:p>
        </p:txBody>
      </p:sp>
      <p:sp>
        <p:nvSpPr>
          <p:cNvPr id="3" name="TextBox 2"/>
          <p:cNvSpPr txBox="1"/>
          <p:nvPr/>
        </p:nvSpPr>
        <p:spPr>
          <a:xfrm>
            <a:off x="1600200" y="1325880"/>
            <a:ext cx="9601200" cy="1005840"/>
          </a:xfrm>
          <a:prstGeom prst="rect">
            <a:avLst/>
          </a:prstGeom>
          <a:noFill/>
        </p:spPr>
        <p:txBody>
          <a:bodyPr wrap="square" anchor="t" lIns="0" rIns="0" tIns="0" bIns="0">
            <a:spAutoFit/>
          </a:bodyPr>
          <a:lstStyle/>
          <a:p>
            <a:pPr algn="l">
              <a:spcAft>
                <a:spcPts val="600"/>
              </a:spcAft>
            </a:pPr>
            <a:r>
              <a:rPr sz="5400" b="1" i="0">
                <a:solidFill>
                  <a:srgbClr val="FFFFFF"/>
                </a:solidFill>
                <a:latin typeface="Cambria"/>
              </a:rPr>
              <a:t>HLEAPP</a:t>
            </a:r>
          </a:p>
        </p:txBody>
      </p:sp>
      <p:sp>
        <p:nvSpPr>
          <p:cNvPr id="4" name="TextBox 3"/>
          <p:cNvSpPr txBox="1"/>
          <p:nvPr/>
        </p:nvSpPr>
        <p:spPr>
          <a:xfrm>
            <a:off x="548640" y="2514600"/>
            <a:ext cx="10515600" cy="731520"/>
          </a:xfrm>
          <a:prstGeom prst="rect">
            <a:avLst/>
          </a:prstGeom>
          <a:noFill/>
        </p:spPr>
        <p:txBody>
          <a:bodyPr wrap="square" anchor="t" lIns="0" rIns="0" tIns="0" bIns="0">
            <a:spAutoFit/>
          </a:bodyPr>
          <a:lstStyle/>
          <a:p>
            <a:pPr algn="l">
              <a:spcAft>
                <a:spcPts val="600"/>
              </a:spcAft>
            </a:pPr>
            <a:r>
              <a:rPr sz="3200" b="0" i="0">
                <a:solidFill>
                  <a:srgbClr val="F2A900"/>
                </a:solidFill>
                <a:latin typeface="Cambria"/>
              </a:rPr>
              <a:t>Running ALEAPP inside Hansken</a:t>
            </a:r>
          </a:p>
        </p:txBody>
      </p:sp>
      <p:sp>
        <p:nvSpPr>
          <p:cNvPr id="5" name="TextBox 4"/>
          <p:cNvSpPr txBox="1"/>
          <p:nvPr/>
        </p:nvSpPr>
        <p:spPr>
          <a:xfrm>
            <a:off x="548640" y="3291840"/>
            <a:ext cx="10515600" cy="1097280"/>
          </a:xfrm>
          <a:prstGeom prst="rect">
            <a:avLst/>
          </a:prstGeom>
          <a:noFill/>
        </p:spPr>
        <p:txBody>
          <a:bodyPr wrap="square" anchor="t" lIns="0" rIns="0" tIns="0" bIns="0">
            <a:spAutoFit/>
          </a:bodyPr>
          <a:lstStyle/>
          <a:p>
            <a:pPr algn="l">
              <a:spcAft>
                <a:spcPts val="600"/>
              </a:spcAft>
            </a:pPr>
            <a:r>
              <a:rPr sz="1800" b="0" i="0">
                <a:solidFill>
                  <a:srgbClr val="E8EEF3"/>
                </a:solidFill>
                <a:latin typeface="Calibri"/>
              </a:rPr>
              <a:t>Architecture and working of the HLEAPP extraction plugin: ALEAPP analyses Android artifacts on files Hansken already extracted, fetching them on demand.</a:t>
            </a:r>
          </a:p>
        </p:txBody>
      </p:sp>
      <p:sp>
        <p:nvSpPr>
          <p:cNvPr id="6" name="TextBox 5"/>
          <p:cNvSpPr txBox="1"/>
          <p:nvPr/>
        </p:nvSpPr>
        <p:spPr>
          <a:xfrm>
            <a:off x="548640" y="5852160"/>
            <a:ext cx="10972800" cy="365760"/>
          </a:xfrm>
          <a:prstGeom prst="rect">
            <a:avLst/>
          </a:prstGeom>
          <a:noFill/>
        </p:spPr>
        <p:txBody>
          <a:bodyPr wrap="square" anchor="t" lIns="0" rIns="0" tIns="0" bIns="0">
            <a:spAutoFit/>
          </a:bodyPr>
          <a:lstStyle/>
          <a:p>
            <a:pPr algn="l">
              <a:spcAft>
                <a:spcPts val="600"/>
              </a:spcAft>
            </a:pPr>
            <a:r>
              <a:rPr sz="1200" b="0" i="0">
                <a:solidFill>
                  <a:srgbClr val="6B7A8A"/>
                </a:solidFill>
                <a:latin typeface="Calibri"/>
              </a:rPr>
              <a:t>github.com/Schramp/hleap  ·  Hansken extraction plugin SDK 0.10.0  ·  29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600" b="1" i="0">
                <a:solidFill>
                  <a:srgbClr val="1F2A36"/>
                </a:solidFill>
                <a:latin typeface="Cambria"/>
              </a:rPr>
              <a:t>Two tools, one investigation</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i="1">
                <a:solidFill>
                  <a:srgbClr val="6B7A8A"/>
                </a:solidFill>
                <a:latin typeface="Calibri"/>
              </a:rPr>
              <a:t>Hansken extracts and indexes the image; ALEAPP knows what 1,269 Android artifact modules mean</a:t>
            </a:r>
          </a:p>
        </p:txBody>
      </p:sp>
      <p:sp>
        <p:nvSpPr>
          <p:cNvPr id="4" name="Rounded Rectangle 3"/>
          <p:cNvSpPr/>
          <p:nvPr/>
        </p:nvSpPr>
        <p:spPr>
          <a:xfrm>
            <a:off x="548640" y="1828800"/>
            <a:ext cx="3474720" cy="420624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103120"/>
            <a:ext cx="640080" cy="640080"/>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H</a:t>
            </a:r>
          </a:p>
        </p:txBody>
      </p:sp>
      <p:sp>
        <p:nvSpPr>
          <p:cNvPr id="6" name="TextBox 5"/>
          <p:cNvSpPr txBox="1"/>
          <p:nvPr/>
        </p:nvSpPr>
        <p:spPr>
          <a:xfrm>
            <a:off x="1645919" y="2194560"/>
            <a:ext cx="2194560" cy="457200"/>
          </a:xfrm>
          <a:prstGeom prst="rect">
            <a:avLst/>
          </a:prstGeom>
          <a:noFill/>
        </p:spPr>
        <p:txBody>
          <a:bodyPr wrap="square" anchor="t" lIns="0" rIns="0" tIns="0" bIns="0">
            <a:spAutoFit/>
          </a:bodyPr>
          <a:lstStyle/>
          <a:p>
            <a:pPr algn="l">
              <a:spcAft>
                <a:spcPts val="600"/>
              </a:spcAft>
            </a:pPr>
            <a:r>
              <a:rPr sz="2200" b="1" i="0">
                <a:solidFill>
                  <a:srgbClr val="1F2A36"/>
                </a:solidFill>
                <a:latin typeface="Cambria"/>
              </a:rPr>
              <a:t>Hansken</a:t>
            </a:r>
          </a:p>
        </p:txBody>
      </p:sp>
      <p:sp>
        <p:nvSpPr>
          <p:cNvPr id="7" name="TextBox 6"/>
          <p:cNvSpPr txBox="1"/>
          <p:nvPr/>
        </p:nvSpPr>
        <p:spPr>
          <a:xfrm>
            <a:off x="822959" y="3017520"/>
            <a:ext cx="2971800" cy="2834640"/>
          </a:xfrm>
          <a:prstGeom prst="rect">
            <a:avLst/>
          </a:prstGeom>
          <a:noFill/>
        </p:spPr>
        <p:txBody>
          <a:bodyPr wrap="square" anchor="t" lIns="0" rIns="0" tIns="0" bIns="0">
            <a:spAutoFit/>
          </a:bodyPr>
          <a:lstStyle/>
          <a:p>
            <a:pPr algn="l" marL="228600" indent="-182880">
              <a:spcAft>
                <a:spcPts val="1000"/>
              </a:spcAft>
              <a:buChar char="•"/>
            </a:pPr>
            <a:r>
              <a:rPr sz="1500" b="0" i="0">
                <a:solidFill>
                  <a:srgbClr val="1F2A36"/>
                </a:solidFill>
                <a:latin typeface="Calibri"/>
              </a:rPr>
              <a:t>Extracts file systems and indexes every trace</a:t>
            </a:r>
          </a:p>
          <a:p>
            <a:pPr algn="l" marL="228600" indent="-182880">
              <a:spcAft>
                <a:spcPts val="1000"/>
              </a:spcAft>
              <a:buChar char="•"/>
            </a:pPr>
            <a:r>
              <a:rPr sz="1500" b="0" i="0">
                <a:solidFill>
                  <a:srgbClr val="1F2A36"/>
                </a:solidFill>
                <a:latin typeface="Calibri"/>
              </a:rPr>
              <a:t>Runs extraction plugins on matching traces</a:t>
            </a:r>
          </a:p>
          <a:p>
            <a:pPr algn="l" marL="228600" indent="-182880">
              <a:spcAft>
                <a:spcPts val="1000"/>
              </a:spcAft>
              <a:buChar char="•"/>
            </a:pPr>
            <a:r>
              <a:rPr sz="1500" b="0" i="0">
                <a:solidFill>
                  <a:srgbClr val="1F2A36"/>
                </a:solidFill>
                <a:latin typeface="Calibri"/>
              </a:rPr>
              <a:t>Deferred plugins may search the index</a:t>
            </a:r>
          </a:p>
        </p:txBody>
      </p:sp>
      <p:sp>
        <p:nvSpPr>
          <p:cNvPr id="8" name="Rounded Rectangle 7"/>
          <p:cNvSpPr/>
          <p:nvPr/>
        </p:nvSpPr>
        <p:spPr>
          <a:xfrm>
            <a:off x="4297679" y="1828800"/>
            <a:ext cx="3474720" cy="420624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71999" y="2103120"/>
            <a:ext cx="640080" cy="64008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F2A36"/>
                </a:solidFill>
                <a:latin typeface="Calibri"/>
              </a:rPr>
              <a:t>A</a:t>
            </a:r>
          </a:p>
        </p:txBody>
      </p:sp>
      <p:sp>
        <p:nvSpPr>
          <p:cNvPr id="10" name="TextBox 9"/>
          <p:cNvSpPr txBox="1"/>
          <p:nvPr/>
        </p:nvSpPr>
        <p:spPr>
          <a:xfrm>
            <a:off x="5394959" y="2194560"/>
            <a:ext cx="2194560" cy="457200"/>
          </a:xfrm>
          <a:prstGeom prst="rect">
            <a:avLst/>
          </a:prstGeom>
          <a:noFill/>
        </p:spPr>
        <p:txBody>
          <a:bodyPr wrap="square" anchor="t" lIns="0" rIns="0" tIns="0" bIns="0">
            <a:spAutoFit/>
          </a:bodyPr>
          <a:lstStyle/>
          <a:p>
            <a:pPr algn="l">
              <a:spcAft>
                <a:spcPts val="600"/>
              </a:spcAft>
            </a:pPr>
            <a:r>
              <a:rPr sz="2200" b="1" i="0">
                <a:solidFill>
                  <a:srgbClr val="1F2A36"/>
                </a:solidFill>
                <a:latin typeface="Cambria"/>
              </a:rPr>
              <a:t>ALEAPP</a:t>
            </a:r>
          </a:p>
        </p:txBody>
      </p:sp>
      <p:sp>
        <p:nvSpPr>
          <p:cNvPr id="11" name="TextBox 10"/>
          <p:cNvSpPr txBox="1"/>
          <p:nvPr/>
        </p:nvSpPr>
        <p:spPr>
          <a:xfrm>
            <a:off x="4571999" y="3017520"/>
            <a:ext cx="2971800" cy="2834640"/>
          </a:xfrm>
          <a:prstGeom prst="rect">
            <a:avLst/>
          </a:prstGeom>
          <a:noFill/>
        </p:spPr>
        <p:txBody>
          <a:bodyPr wrap="square" anchor="t" lIns="0" rIns="0" tIns="0" bIns="0">
            <a:spAutoFit/>
          </a:bodyPr>
          <a:lstStyle/>
          <a:p>
            <a:pPr algn="l" marL="228600" indent="-182880">
              <a:spcAft>
                <a:spcPts val="1000"/>
              </a:spcAft>
              <a:buChar char="•"/>
            </a:pPr>
            <a:r>
              <a:rPr sz="1500" b="0" i="0">
                <a:solidFill>
                  <a:srgbClr val="1F2A36"/>
                </a:solidFill>
                <a:latin typeface="Calibri"/>
              </a:rPr>
              <a:t>Open-source Android artifact parser (submodule, Schramp/ALEAPP fork)</a:t>
            </a:r>
          </a:p>
          <a:p>
            <a:pPr algn="l" marL="228600" indent="-182880">
              <a:spcAft>
                <a:spcPts val="1000"/>
              </a:spcAft>
              <a:buChar char="•"/>
            </a:pPr>
            <a:r>
              <a:rPr sz="1500" b="0" i="0">
                <a:solidFill>
                  <a:srgbClr val="1F2A36"/>
                </a:solidFill>
                <a:latin typeface="Calibri"/>
              </a:rPr>
              <a:t>Each module declares file globs and typed output columns</a:t>
            </a:r>
          </a:p>
          <a:p>
            <a:pPr algn="l" marL="228600" indent="-182880">
              <a:spcAft>
                <a:spcPts val="1000"/>
              </a:spcAft>
              <a:buChar char="•"/>
            </a:pPr>
            <a:r>
              <a:rPr sz="1500" b="0" i="0">
                <a:solidFill>
                  <a:srgbClr val="1F2A36"/>
                </a:solidFill>
                <a:latin typeface="Calibri"/>
              </a:rPr>
              <a:t>Writes HTML, TSV and a LAVA database</a:t>
            </a:r>
          </a:p>
        </p:txBody>
      </p:sp>
      <p:sp>
        <p:nvSpPr>
          <p:cNvPr id="12" name="Rounded Rectangle 11"/>
          <p:cNvSpPr/>
          <p:nvPr/>
        </p:nvSpPr>
        <p:spPr>
          <a:xfrm>
            <a:off x="8046719" y="1828800"/>
            <a:ext cx="3474720" cy="420624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21040" y="2103120"/>
            <a:ext cx="640080" cy="640080"/>
          </a:xfrm>
          <a:prstGeom prst="ellipse">
            <a:avLst/>
          </a:prstGeom>
          <a:solidFill>
            <a:srgbClr val="1F2A36"/>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H</a:t>
            </a:r>
          </a:p>
        </p:txBody>
      </p:sp>
      <p:sp>
        <p:nvSpPr>
          <p:cNvPr id="14" name="TextBox 13"/>
          <p:cNvSpPr txBox="1"/>
          <p:nvPr/>
        </p:nvSpPr>
        <p:spPr>
          <a:xfrm>
            <a:off x="9143999" y="2194560"/>
            <a:ext cx="2194560" cy="457200"/>
          </a:xfrm>
          <a:prstGeom prst="rect">
            <a:avLst/>
          </a:prstGeom>
          <a:noFill/>
        </p:spPr>
        <p:txBody>
          <a:bodyPr wrap="square" anchor="t" lIns="0" rIns="0" tIns="0" bIns="0">
            <a:spAutoFit/>
          </a:bodyPr>
          <a:lstStyle/>
          <a:p>
            <a:pPr algn="l">
              <a:spcAft>
                <a:spcPts val="600"/>
              </a:spcAft>
            </a:pPr>
            <a:r>
              <a:rPr sz="2200" b="1" i="0">
                <a:solidFill>
                  <a:srgbClr val="1F2A36"/>
                </a:solidFill>
                <a:latin typeface="Cambria"/>
              </a:rPr>
              <a:t>HLEAPP</a:t>
            </a:r>
          </a:p>
        </p:txBody>
      </p:sp>
      <p:sp>
        <p:nvSpPr>
          <p:cNvPr id="15" name="TextBox 14"/>
          <p:cNvSpPr txBox="1"/>
          <p:nvPr/>
        </p:nvSpPr>
        <p:spPr>
          <a:xfrm>
            <a:off x="8321040" y="3017520"/>
            <a:ext cx="2971800" cy="2834640"/>
          </a:xfrm>
          <a:prstGeom prst="rect">
            <a:avLst/>
          </a:prstGeom>
          <a:noFill/>
        </p:spPr>
        <p:txBody>
          <a:bodyPr wrap="square" anchor="t" lIns="0" rIns="0" tIns="0" bIns="0">
            <a:spAutoFit/>
          </a:bodyPr>
          <a:lstStyle/>
          <a:p>
            <a:pPr algn="l" marL="228600" indent="-182880">
              <a:spcAft>
                <a:spcPts val="1000"/>
              </a:spcAft>
              <a:buChar char="•"/>
            </a:pPr>
            <a:r>
              <a:rPr sz="1500" b="0" i="0">
                <a:solidFill>
                  <a:srgbClr val="1F2A36"/>
                </a:solidFill>
                <a:latin typeface="Calibri"/>
              </a:rPr>
              <a:t>Hansken plugin that starts ALEAPP modules on their anchor trace</a:t>
            </a:r>
          </a:p>
          <a:p>
            <a:pPr algn="l" marL="228600" indent="-182880">
              <a:spcAft>
                <a:spcPts val="1000"/>
              </a:spcAft>
              <a:buChar char="•"/>
            </a:pPr>
            <a:r>
              <a:rPr sz="1500" b="0" i="0">
                <a:solidFill>
                  <a:srgbClr val="1F2A36"/>
                </a:solidFill>
                <a:latin typeface="Calibri"/>
              </a:rPr>
              <a:t>Feeds ALEAPP the files it asks for, straight from Hansken</a:t>
            </a:r>
          </a:p>
          <a:p>
            <a:pPr algn="l" marL="228600" indent="-182880">
              <a:spcAft>
                <a:spcPts val="1000"/>
              </a:spcAft>
              <a:buChar char="•"/>
            </a:pPr>
            <a:r>
              <a:rPr sz="1500" b="0" i="0">
                <a:solidFill>
                  <a:srgbClr val="1F2A36"/>
                </a:solidFill>
                <a:latin typeface="Calibri"/>
              </a:rPr>
              <a:t>Turns ALEAPP results into Hansken child traces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600" b="1" i="0">
                <a:solidFill>
                  <a:srgbClr val="1F2A36"/>
                </a:solidFill>
                <a:latin typeface="Cambria"/>
              </a:rPr>
              <a:t>Architecture</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i="1">
                <a:solidFill>
                  <a:srgbClr val="6B7A8A"/>
                </a:solidFill>
                <a:latin typeface="Calibri"/>
              </a:rPr>
              <a:t>One container, two Python environments, one socket pair between them</a:t>
            </a:r>
          </a:p>
        </p:txBody>
      </p:sp>
      <p:sp>
        <p:nvSpPr>
          <p:cNvPr id="4" name="Rounded Rectangle 3"/>
          <p:cNvSpPr/>
          <p:nvPr/>
        </p:nvSpPr>
        <p:spPr>
          <a:xfrm>
            <a:off x="548640" y="1920240"/>
            <a:ext cx="2377440" cy="38404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03120"/>
            <a:ext cx="2011680" cy="457200"/>
          </a:xfrm>
          <a:prstGeom prst="rect">
            <a:avLst/>
          </a:prstGeom>
          <a:noFill/>
        </p:spPr>
        <p:txBody>
          <a:bodyPr wrap="square" anchor="t" lIns="0" rIns="0" tIns="0" bIns="0">
            <a:spAutoFit/>
          </a:bodyPr>
          <a:lstStyle/>
          <a:p>
            <a:pPr algn="l">
              <a:spcAft>
                <a:spcPts val="600"/>
              </a:spcAft>
            </a:pPr>
            <a:r>
              <a:rPr sz="2200" b="1" i="0">
                <a:solidFill>
                  <a:srgbClr val="FFFFFF"/>
                </a:solidFill>
                <a:latin typeface="Cambria"/>
              </a:rPr>
              <a:t>Hansken</a:t>
            </a:r>
          </a:p>
        </p:txBody>
      </p:sp>
      <p:sp>
        <p:nvSpPr>
          <p:cNvPr id="6" name="TextBox 5"/>
          <p:cNvSpPr txBox="1"/>
          <p:nvPr/>
        </p:nvSpPr>
        <p:spPr>
          <a:xfrm>
            <a:off x="731520" y="2651760"/>
            <a:ext cx="2011680" cy="2926080"/>
          </a:xfrm>
          <a:prstGeom prst="rect">
            <a:avLst/>
          </a:prstGeom>
          <a:noFill/>
        </p:spPr>
        <p:txBody>
          <a:bodyPr wrap="square" anchor="t" lIns="0" rIns="0" tIns="0" bIns="0">
            <a:spAutoFit/>
          </a:bodyPr>
          <a:lstStyle/>
          <a:p>
            <a:pPr algn="l" marL="228600" indent="-182880">
              <a:spcAft>
                <a:spcPts val="600"/>
              </a:spcAft>
              <a:buChar char="•"/>
            </a:pPr>
            <a:r>
              <a:rPr sz="1400" b="0" i="0">
                <a:solidFill>
                  <a:srgbClr val="FFFFFF"/>
                </a:solidFill>
                <a:latin typeface="Calibri"/>
              </a:rPr>
              <a:t>Index with all traces</a:t>
            </a:r>
          </a:p>
          <a:p>
            <a:pPr algn="l" marL="228600" indent="-182880">
              <a:spcAft>
                <a:spcPts val="600"/>
              </a:spcAft>
              <a:buChar char="•"/>
            </a:pPr>
            <a:r>
              <a:rPr sz="1400" b="0" i="0">
                <a:solidFill>
                  <a:srgbClr val="FFFFFF"/>
                </a:solidFill>
                <a:latin typeface="Calibri"/>
              </a:rPr>
              <a:t>Deferred plugin call per anchor trace</a:t>
            </a:r>
          </a:p>
          <a:p>
            <a:pPr algn="l" marL="228600" indent="-182880">
              <a:spcAft>
                <a:spcPts val="600"/>
              </a:spcAft>
              <a:buChar char="•"/>
            </a:pPr>
            <a:r>
              <a:rPr sz="1400" b="0" i="0">
                <a:solidFill>
                  <a:srgbClr val="FFFFFF"/>
                </a:solidFill>
                <a:latin typeface="Calibri"/>
              </a:rPr>
              <a:t>Searcher (HQL)</a:t>
            </a:r>
          </a:p>
          <a:p>
            <a:pPr algn="l" marL="228600" indent="-182880">
              <a:spcAft>
                <a:spcPts val="600"/>
              </a:spcAft>
              <a:buChar char="•"/>
            </a:pPr>
            <a:r>
              <a:rPr sz="1400" b="0" i="0">
                <a:solidFill>
                  <a:srgbClr val="FFFFFF"/>
                </a:solidFill>
                <a:latin typeface="Calibri"/>
              </a:rPr>
              <a:t>Receives child traces</a:t>
            </a:r>
          </a:p>
        </p:txBody>
      </p:sp>
      <p:sp>
        <p:nvSpPr>
          <p:cNvPr id="7" name="Rounded Rectangle 6"/>
          <p:cNvSpPr/>
          <p:nvPr/>
        </p:nvSpPr>
        <p:spPr>
          <a:xfrm>
            <a:off x="3474720" y="1691640"/>
            <a:ext cx="8183879" cy="4526280"/>
          </a:xfrm>
          <a:prstGeom prst="roundRect">
            <a:avLst>
              <a:gd name="adj" fmla="val 8000"/>
            </a:avLst>
          </a:prstGeom>
          <a:solidFill>
            <a:srgbClr val="E8EEF3"/>
          </a:solidFill>
          <a:ln w="19050">
            <a:solidFill>
              <a:srgbClr val="3D4B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783080"/>
            <a:ext cx="7772400" cy="365760"/>
          </a:xfrm>
          <a:prstGeom prst="rect">
            <a:avLst/>
          </a:prstGeom>
          <a:noFill/>
        </p:spPr>
        <p:txBody>
          <a:bodyPr wrap="square" anchor="t" lIns="0" rIns="0" tIns="0" bIns="0">
            <a:spAutoFit/>
          </a:bodyPr>
          <a:lstStyle/>
          <a:p>
            <a:pPr algn="l">
              <a:spcAft>
                <a:spcPts val="600"/>
              </a:spcAft>
            </a:pPr>
            <a:r>
              <a:rPr sz="1300" b="1" i="0">
                <a:solidFill>
                  <a:srgbClr val="3D4B5C"/>
                </a:solidFill>
                <a:latin typeface="Calibri"/>
              </a:rPr>
              <a:t>Plugin container (Docker image, python:3.13-slim)</a:t>
            </a:r>
          </a:p>
        </p:txBody>
      </p:sp>
      <p:sp>
        <p:nvSpPr>
          <p:cNvPr id="9" name="Rounded Rectangle 8"/>
          <p:cNvSpPr/>
          <p:nvPr/>
        </p:nvSpPr>
        <p:spPr>
          <a:xfrm>
            <a:off x="3749039" y="2286000"/>
            <a:ext cx="3291840" cy="3611880"/>
          </a:xfrm>
          <a:prstGeom prst="roundRect">
            <a:avLst>
              <a:gd name="adj" fmla="val 8000"/>
            </a:avLst>
          </a:prstGeom>
          <a:solidFill>
            <a:srgbClr val="FFFFFF"/>
          </a:solidFill>
          <a:ln w="1905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31920" y="2423160"/>
            <a:ext cx="2926080" cy="365760"/>
          </a:xfrm>
          <a:prstGeom prst="rect">
            <a:avLst/>
          </a:prstGeom>
          <a:noFill/>
        </p:spPr>
        <p:txBody>
          <a:bodyPr wrap="square" anchor="t" lIns="0" rIns="0" tIns="0" bIns="0">
            <a:spAutoFit/>
          </a:bodyPr>
          <a:lstStyle/>
          <a:p>
            <a:pPr algn="l">
              <a:spcAft>
                <a:spcPts val="600"/>
              </a:spcAft>
            </a:pPr>
            <a:r>
              <a:rPr sz="1700" b="1" i="0">
                <a:solidFill>
                  <a:srgbClr val="1F2A36"/>
                </a:solidFill>
                <a:latin typeface="Cambria"/>
              </a:rPr>
              <a:t>/venv — plugin.py</a:t>
            </a:r>
          </a:p>
        </p:txBody>
      </p:sp>
      <p:sp>
        <p:nvSpPr>
          <p:cNvPr id="11" name="TextBox 10"/>
          <p:cNvSpPr txBox="1"/>
          <p:nvPr/>
        </p:nvSpPr>
        <p:spPr>
          <a:xfrm>
            <a:off x="3931920" y="2880360"/>
            <a:ext cx="2926080" cy="2926080"/>
          </a:xfrm>
          <a:prstGeom prst="rect">
            <a:avLst/>
          </a:prstGeom>
          <a:noFill/>
        </p:spPr>
        <p:txBody>
          <a:bodyPr wrap="square" anchor="t" lIns="0" rIns="0" tIns="0" bIns="0">
            <a:spAutoFit/>
          </a:bodyPr>
          <a:lstStyle/>
          <a:p>
            <a:pPr algn="l" marL="228600" indent="-182880">
              <a:spcAft>
                <a:spcPts val="600"/>
              </a:spcAft>
              <a:buChar char="•"/>
            </a:pPr>
            <a:r>
              <a:rPr sz="1300" b="0" i="0">
                <a:solidFill>
                  <a:srgbClr val="1F2A36"/>
                </a:solidFill>
                <a:latin typeface="Calibri"/>
              </a:rPr>
              <a:t>Matcher from the anchor plan</a:t>
            </a:r>
          </a:p>
          <a:p>
            <a:pPr algn="l" marL="228600" indent="-182880">
              <a:spcAft>
                <a:spcPts val="600"/>
              </a:spcAft>
              <a:buChar char="•"/>
            </a:pPr>
            <a:r>
              <a:rPr sz="1300" b="0" i="0">
                <a:solidFill>
                  <a:srgbClr val="1F2A36"/>
                </a:solidFill>
                <a:latin typeface="Calibri"/>
              </a:rPr>
              <a:t>process(): picks the modules</a:t>
            </a:r>
          </a:p>
          <a:p>
            <a:pPr algn="l" marL="228600" indent="-182880">
              <a:spcAft>
                <a:spcPts val="600"/>
              </a:spcAft>
              <a:buChar char="•"/>
            </a:pPr>
            <a:r>
              <a:rPr sz="1300" b="0" i="0">
                <a:solidFill>
                  <a:srgbClr val="1F2A36"/>
                </a:solidFill>
                <a:latin typeface="Calibri"/>
              </a:rPr>
              <a:t>Stager: glob → Hansken query → exact filter → write file</a:t>
            </a:r>
          </a:p>
          <a:p>
            <a:pPr algn="l" marL="228600" indent="-182880">
              <a:spcAft>
                <a:spcPts val="600"/>
              </a:spcAft>
              <a:buChar char="•"/>
            </a:pPr>
            <a:r>
              <a:rPr sz="1300" b="0" i="0">
                <a:solidFill>
                  <a:srgbClr val="1F2A36"/>
                </a:solidFill>
                <a:latin typeface="Calibri"/>
              </a:rPr>
              <a:t>Builds LAVA child traces + report zip</a:t>
            </a:r>
          </a:p>
        </p:txBody>
      </p:sp>
      <p:sp>
        <p:nvSpPr>
          <p:cNvPr id="12" name="Rounded Rectangle 11"/>
          <p:cNvSpPr/>
          <p:nvPr/>
        </p:nvSpPr>
        <p:spPr>
          <a:xfrm>
            <a:off x="8092440" y="2286000"/>
            <a:ext cx="3337560" cy="3611880"/>
          </a:xfrm>
          <a:prstGeom prst="roundRect">
            <a:avLst>
              <a:gd name="adj" fmla="val 8000"/>
            </a:avLst>
          </a:prstGeom>
          <a:solidFill>
            <a:srgbClr val="FFFFFF"/>
          </a:solidFill>
          <a:ln w="19050">
            <a:solidFill>
              <a:srgbClr val="F2A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2423160"/>
            <a:ext cx="3017520" cy="365760"/>
          </a:xfrm>
          <a:prstGeom prst="rect">
            <a:avLst/>
          </a:prstGeom>
          <a:noFill/>
        </p:spPr>
        <p:txBody>
          <a:bodyPr wrap="square" anchor="t" lIns="0" rIns="0" tIns="0" bIns="0">
            <a:spAutoFit/>
          </a:bodyPr>
          <a:lstStyle/>
          <a:p>
            <a:pPr algn="l">
              <a:spcAft>
                <a:spcPts val="600"/>
              </a:spcAft>
            </a:pPr>
            <a:r>
              <a:rPr sz="1700" b="1" i="0">
                <a:solidFill>
                  <a:srgbClr val="1F2A36"/>
                </a:solidFill>
                <a:latin typeface="Cambria"/>
              </a:rPr>
              <a:t>/opt/aleapp-venv</a:t>
            </a:r>
          </a:p>
        </p:txBody>
      </p:sp>
      <p:sp>
        <p:nvSpPr>
          <p:cNvPr id="14" name="TextBox 13"/>
          <p:cNvSpPr txBox="1"/>
          <p:nvPr/>
        </p:nvSpPr>
        <p:spPr>
          <a:xfrm>
            <a:off x="8275320" y="2880360"/>
            <a:ext cx="3017520" cy="2926080"/>
          </a:xfrm>
          <a:prstGeom prst="rect">
            <a:avLst/>
          </a:prstGeom>
          <a:noFill/>
        </p:spPr>
        <p:txBody>
          <a:bodyPr wrap="square" anchor="t" lIns="0" rIns="0" tIns="0" bIns="0">
            <a:spAutoFit/>
          </a:bodyPr>
          <a:lstStyle/>
          <a:p>
            <a:pPr algn="l" marL="228600" indent="-182880">
              <a:spcAft>
                <a:spcPts val="600"/>
              </a:spcAft>
              <a:buChar char="•"/>
            </a:pPr>
            <a:r>
              <a:rPr sz="1300" b="0" i="0">
                <a:solidFill>
                  <a:srgbClr val="1F2A36"/>
                </a:solidFill>
                <a:latin typeface="Calibri"/>
              </a:rPr>
              <a:t>hleapp_launcher.py swaps in HanskenSeeker</a:t>
            </a:r>
          </a:p>
          <a:p>
            <a:pPr algn="l" marL="228600" indent="-182880">
              <a:spcAft>
                <a:spcPts val="600"/>
              </a:spcAft>
              <a:buChar char="•"/>
            </a:pPr>
            <a:r>
              <a:rPr sz="1300" b="0" i="0">
                <a:solidFill>
                  <a:srgbClr val="1F2A36"/>
                </a:solidFill>
                <a:latin typeface="Calibri"/>
              </a:rPr>
              <a:t>aleapp.main() — ALEAPP untouched</a:t>
            </a:r>
          </a:p>
          <a:p>
            <a:pPr algn="l" marL="228600" indent="-182880">
              <a:spcAft>
                <a:spcPts val="600"/>
              </a:spcAft>
              <a:buChar char="•"/>
            </a:pPr>
            <a:r>
              <a:rPr sz="1300" b="0" i="0">
                <a:solidFill>
                  <a:srgbClr val="1F2A36"/>
                </a:solidFill>
                <a:latin typeface="Calibri"/>
              </a:rPr>
              <a:t>seeker.search(glob) → RPC</a:t>
            </a:r>
          </a:p>
          <a:p>
            <a:pPr algn="l" marL="228600" indent="-182880">
              <a:spcAft>
                <a:spcPts val="600"/>
              </a:spcAft>
              <a:buChar char="•"/>
            </a:pPr>
            <a:r>
              <a:rPr sz="1300" b="0" i="0">
                <a:solidFill>
                  <a:srgbClr val="1F2A36"/>
                </a:solidFill>
                <a:latin typeface="Calibri"/>
              </a:rPr>
              <a:t>Writes report + LAVA to disk</a:t>
            </a:r>
          </a:p>
        </p:txBody>
      </p:sp>
      <p:cxnSp>
        <p:nvCxnSpPr>
          <p:cNvPr id="15" name="Connector 14"/>
          <p:cNvCxnSpPr/>
          <p:nvPr/>
        </p:nvCxnSpPr>
        <p:spPr>
          <a:xfrm>
            <a:off x="2926080" y="3108960"/>
            <a:ext cx="822959" cy="0"/>
          </a:xfrm>
          <a:prstGeom prst="line">
            <a:avLst/>
          </a:prstGeom>
          <a:ln w="25400">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2926080" y="4480560"/>
            <a:ext cx="822959" cy="0"/>
          </a:xfrm>
          <a:prstGeom prst="line">
            <a:avLst/>
          </a:prstGeom>
          <a:ln w="25400">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926080" y="2743200"/>
            <a:ext cx="822960" cy="320040"/>
          </a:xfrm>
          <a:prstGeom prst="rect">
            <a:avLst/>
          </a:prstGeom>
          <a:noFill/>
        </p:spPr>
        <p:txBody>
          <a:bodyPr wrap="square" anchor="t" lIns="0" rIns="0" tIns="0" bIns="0">
            <a:spAutoFit/>
          </a:bodyPr>
          <a:lstStyle/>
          <a:p>
            <a:pPr algn="ctr">
              <a:spcAft>
                <a:spcPts val="600"/>
              </a:spcAft>
            </a:pPr>
            <a:r>
              <a:rPr sz="1100" b="0" i="0">
                <a:solidFill>
                  <a:srgbClr val="3D4B5C"/>
                </a:solidFill>
                <a:latin typeface="Calibri"/>
              </a:rPr>
              <a:t>trace</a:t>
            </a:r>
          </a:p>
        </p:txBody>
      </p:sp>
      <p:sp>
        <p:nvSpPr>
          <p:cNvPr id="18" name="TextBox 17"/>
          <p:cNvSpPr txBox="1"/>
          <p:nvPr/>
        </p:nvSpPr>
        <p:spPr>
          <a:xfrm>
            <a:off x="2926080" y="4526280"/>
            <a:ext cx="822960" cy="320040"/>
          </a:xfrm>
          <a:prstGeom prst="rect">
            <a:avLst/>
          </a:prstGeom>
          <a:noFill/>
        </p:spPr>
        <p:txBody>
          <a:bodyPr wrap="square" anchor="t" lIns="0" rIns="0" tIns="0" bIns="0">
            <a:spAutoFit/>
          </a:bodyPr>
          <a:lstStyle/>
          <a:p>
            <a:pPr algn="ctr">
              <a:spcAft>
                <a:spcPts val="600"/>
              </a:spcAft>
            </a:pPr>
            <a:r>
              <a:rPr sz="1100" b="0" i="0">
                <a:solidFill>
                  <a:srgbClr val="3D4B5C"/>
                </a:solidFill>
                <a:latin typeface="Calibri"/>
              </a:rPr>
              <a:t>children</a:t>
            </a:r>
          </a:p>
        </p:txBody>
      </p:sp>
      <p:cxnSp>
        <p:nvCxnSpPr>
          <p:cNvPr id="19" name="Connector 18"/>
          <p:cNvCxnSpPr/>
          <p:nvPr/>
        </p:nvCxnSpPr>
        <p:spPr>
          <a:xfrm flipH="1">
            <a:off x="7040880" y="3383280"/>
            <a:ext cx="1051560"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040880" y="4023360"/>
            <a:ext cx="1051560" cy="0"/>
          </a:xfrm>
          <a:prstGeom prst="line">
            <a:avLst/>
          </a:prstGeom>
          <a:ln w="2540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086600" y="2971800"/>
            <a:ext cx="960120" cy="365760"/>
          </a:xfrm>
          <a:prstGeom prst="rect">
            <a:avLst/>
          </a:prstGeom>
          <a:noFill/>
        </p:spPr>
        <p:txBody>
          <a:bodyPr wrap="square" anchor="t" lIns="0" rIns="0" tIns="0" bIns="0">
            <a:spAutoFit/>
          </a:bodyPr>
          <a:lstStyle/>
          <a:p>
            <a:pPr algn="ctr">
              <a:spcAft>
                <a:spcPts val="600"/>
              </a:spcAft>
            </a:pPr>
            <a:r>
              <a:rPr sz="1000" b="0" i="0">
                <a:solidFill>
                  <a:srgbClr val="3D4B5C"/>
                </a:solidFill>
                <a:latin typeface="Calibri"/>
              </a:rPr>
              <a:t>search_and_stage</a:t>
            </a:r>
          </a:p>
        </p:txBody>
      </p:sp>
      <p:sp>
        <p:nvSpPr>
          <p:cNvPr id="22" name="TextBox 21"/>
          <p:cNvSpPr txBox="1"/>
          <p:nvPr/>
        </p:nvSpPr>
        <p:spPr>
          <a:xfrm>
            <a:off x="7086600" y="4069080"/>
            <a:ext cx="960120" cy="365760"/>
          </a:xfrm>
          <a:prstGeom prst="rect">
            <a:avLst/>
          </a:prstGeom>
          <a:noFill/>
        </p:spPr>
        <p:txBody>
          <a:bodyPr wrap="square" anchor="t" lIns="0" rIns="0" tIns="0" bIns="0">
            <a:spAutoFit/>
          </a:bodyPr>
          <a:lstStyle/>
          <a:p>
            <a:pPr algn="ctr">
              <a:spcAft>
                <a:spcPts val="600"/>
              </a:spcAft>
            </a:pPr>
            <a:r>
              <a:rPr sz="1000" b="0" i="0">
                <a:solidFill>
                  <a:srgbClr val="3D4B5C"/>
                </a:solidFill>
                <a:latin typeface="Calibri"/>
              </a:rPr>
              <a:t>staged paths</a:t>
            </a:r>
          </a:p>
        </p:txBody>
      </p:sp>
      <p:sp>
        <p:nvSpPr>
          <p:cNvPr id="23" name="TextBox 22"/>
          <p:cNvSpPr txBox="1"/>
          <p:nvPr/>
        </p:nvSpPr>
        <p:spPr>
          <a:xfrm>
            <a:off x="3474720" y="6309360"/>
            <a:ext cx="8229600" cy="365760"/>
          </a:xfrm>
          <a:prstGeom prst="rect">
            <a:avLst/>
          </a:prstGeom>
          <a:noFill/>
        </p:spPr>
        <p:txBody>
          <a:bodyPr wrap="square" anchor="t" lIns="0" rIns="0" tIns="0" bIns="0">
            <a:spAutoFit/>
          </a:bodyPr>
          <a:lstStyle/>
          <a:p>
            <a:pPr algn="l">
              <a:spcAft>
                <a:spcPts val="600"/>
              </a:spcAft>
            </a:pPr>
            <a:r>
              <a:rPr sz="1200" b="0" i="1">
                <a:solidFill>
                  <a:srgbClr val="6B7A8A"/>
                </a:solidFill>
                <a:latin typeface="Calibri"/>
              </a:rPr>
              <a:t>Two venvs because ALEAPP pins protobuf 5.x and the plugin SDK needs protobuf 7.x.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600" b="1" i="0">
                <a:solidFill>
                  <a:srgbClr val="1F2A36"/>
                </a:solidFill>
                <a:latin typeface="Cambria"/>
              </a:rPr>
              <a:t>Which trace starts which module</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i="1">
                <a:solidFill>
                  <a:srgbClr val="6B7A8A"/>
                </a:solidFill>
                <a:latin typeface="Calibri"/>
              </a:rPr>
              <a:t>Deferred rule: traces the matcher selects are not indexed, so a search never finds them</a:t>
            </a:r>
          </a:p>
        </p:txBody>
      </p:sp>
      <p:sp>
        <p:nvSpPr>
          <p:cNvPr id="4" name="Rounded Rectangle 3"/>
          <p:cNvSpPr/>
          <p:nvPr/>
        </p:nvSpPr>
        <p:spPr>
          <a:xfrm>
            <a:off x="548640" y="1783080"/>
            <a:ext cx="2606040" cy="160020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20240"/>
            <a:ext cx="2194560" cy="822960"/>
          </a:xfrm>
          <a:prstGeom prst="rect">
            <a:avLst/>
          </a:prstGeom>
          <a:noFill/>
        </p:spPr>
        <p:txBody>
          <a:bodyPr wrap="square" anchor="t" lIns="0" rIns="0" tIns="0" bIns="0">
            <a:spAutoFit/>
          </a:bodyPr>
          <a:lstStyle/>
          <a:p>
            <a:pPr algn="l">
              <a:spcAft>
                <a:spcPts val="600"/>
              </a:spcAft>
            </a:pPr>
            <a:r>
              <a:rPr sz="4000" b="1" i="0">
                <a:solidFill>
                  <a:srgbClr val="1F2A36"/>
                </a:solidFill>
                <a:latin typeface="Cambria"/>
              </a:rPr>
              <a:t>1,269</a:t>
            </a:r>
          </a:p>
        </p:txBody>
      </p:sp>
      <p:sp>
        <p:nvSpPr>
          <p:cNvPr id="6" name="TextBox 5"/>
          <p:cNvSpPr txBox="1"/>
          <p:nvPr/>
        </p:nvSpPr>
        <p:spPr>
          <a:xfrm>
            <a:off x="777240" y="2743200"/>
            <a:ext cx="2194560" cy="548640"/>
          </a:xfrm>
          <a:prstGeom prst="rect">
            <a:avLst/>
          </a:prstGeom>
          <a:noFill/>
        </p:spPr>
        <p:txBody>
          <a:bodyPr wrap="square" anchor="t" lIns="0" rIns="0" tIns="0" bIns="0">
            <a:spAutoFit/>
          </a:bodyPr>
          <a:lstStyle/>
          <a:p>
            <a:pPr algn="l">
              <a:spcAft>
                <a:spcPts val="600"/>
              </a:spcAft>
            </a:pPr>
            <a:r>
              <a:rPr sz="1400" b="0" i="0">
                <a:solidFill>
                  <a:srgbClr val="3D4B5C"/>
                </a:solidFill>
                <a:latin typeface="Calibri"/>
              </a:rPr>
              <a:t>ALEAPP modules</a:t>
            </a:r>
          </a:p>
        </p:txBody>
      </p:sp>
      <p:sp>
        <p:nvSpPr>
          <p:cNvPr id="7" name="Rounded Rectangle 6"/>
          <p:cNvSpPr/>
          <p:nvPr/>
        </p:nvSpPr>
        <p:spPr>
          <a:xfrm>
            <a:off x="3383280" y="1783080"/>
            <a:ext cx="2606040" cy="160020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920240"/>
            <a:ext cx="2194560" cy="822960"/>
          </a:xfrm>
          <a:prstGeom prst="rect">
            <a:avLst/>
          </a:prstGeom>
          <a:noFill/>
        </p:spPr>
        <p:txBody>
          <a:bodyPr wrap="square" anchor="t" lIns="0" rIns="0" tIns="0" bIns="0">
            <a:spAutoFit/>
          </a:bodyPr>
          <a:lstStyle/>
          <a:p>
            <a:pPr algn="l">
              <a:spcAft>
                <a:spcPts val="600"/>
              </a:spcAft>
            </a:pPr>
            <a:r>
              <a:rPr sz="4000" b="1" i="0">
                <a:solidFill>
                  <a:srgbClr val="1F2A36"/>
                </a:solidFill>
                <a:latin typeface="Cambria"/>
              </a:rPr>
              <a:t>1,255</a:t>
            </a:r>
          </a:p>
        </p:txBody>
      </p:sp>
      <p:sp>
        <p:nvSpPr>
          <p:cNvPr id="9" name="TextBox 8"/>
          <p:cNvSpPr txBox="1"/>
          <p:nvPr/>
        </p:nvSpPr>
        <p:spPr>
          <a:xfrm>
            <a:off x="3611880" y="2743200"/>
            <a:ext cx="2194560" cy="548640"/>
          </a:xfrm>
          <a:prstGeom prst="rect">
            <a:avLst/>
          </a:prstGeom>
          <a:noFill/>
        </p:spPr>
        <p:txBody>
          <a:bodyPr wrap="square" anchor="t" lIns="0" rIns="0" tIns="0" bIns="0">
            <a:spAutoFit/>
          </a:bodyPr>
          <a:lstStyle/>
          <a:p>
            <a:pPr algn="l">
              <a:spcAft>
                <a:spcPts val="600"/>
              </a:spcAft>
            </a:pPr>
            <a:r>
              <a:rPr sz="1400" b="0" i="0">
                <a:solidFill>
                  <a:srgbClr val="3D4B5C"/>
                </a:solidFill>
                <a:latin typeface="Calibri"/>
              </a:rPr>
              <a:t>kept after the anchor rules</a:t>
            </a:r>
          </a:p>
        </p:txBody>
      </p:sp>
      <p:sp>
        <p:nvSpPr>
          <p:cNvPr id="10" name="Rounded Rectangle 9"/>
          <p:cNvSpPr/>
          <p:nvPr/>
        </p:nvSpPr>
        <p:spPr>
          <a:xfrm>
            <a:off x="6217920" y="1783080"/>
            <a:ext cx="2606040" cy="1600200"/>
          </a:xfrm>
          <a:prstGeom prst="roundRect">
            <a:avLst>
              <a:gd name="adj" fmla="val 8000"/>
            </a:avLst>
          </a:prstGeom>
          <a:solidFill>
            <a:srgbClr val="1F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20240"/>
            <a:ext cx="2194560" cy="822960"/>
          </a:xfrm>
          <a:prstGeom prst="rect">
            <a:avLst/>
          </a:prstGeom>
          <a:noFill/>
        </p:spPr>
        <p:txBody>
          <a:bodyPr wrap="square" anchor="t" lIns="0" rIns="0" tIns="0" bIns="0">
            <a:spAutoFit/>
          </a:bodyPr>
          <a:lstStyle/>
          <a:p>
            <a:pPr algn="l">
              <a:spcAft>
                <a:spcPts val="600"/>
              </a:spcAft>
            </a:pPr>
            <a:r>
              <a:rPr sz="4000" b="1" i="0">
                <a:solidFill>
                  <a:srgbClr val="F2A900"/>
                </a:solidFill>
                <a:latin typeface="Cambria"/>
              </a:rPr>
              <a:t>54</a:t>
            </a:r>
          </a:p>
        </p:txBody>
      </p:sp>
      <p:sp>
        <p:nvSpPr>
          <p:cNvPr id="12" name="TextBox 11"/>
          <p:cNvSpPr txBox="1"/>
          <p:nvPr/>
        </p:nvSpPr>
        <p:spPr>
          <a:xfrm>
            <a:off x="6446520" y="2743200"/>
            <a:ext cx="2194560" cy="548640"/>
          </a:xfrm>
          <a:prstGeom prst="rect">
            <a:avLst/>
          </a:prstGeom>
          <a:noFill/>
        </p:spPr>
        <p:txBody>
          <a:bodyPr wrap="square" anchor="t" lIns="0" rIns="0" tIns="0" bIns="0">
            <a:spAutoFit/>
          </a:bodyPr>
          <a:lstStyle/>
          <a:p>
            <a:pPr algn="l">
              <a:spcAft>
                <a:spcPts val="600"/>
              </a:spcAft>
            </a:pPr>
            <a:r>
              <a:rPr sz="1400" b="0" i="0">
                <a:solidFill>
                  <a:srgbClr val="FFFFFF"/>
                </a:solidFill>
                <a:latin typeface="Calibri"/>
              </a:rPr>
              <a:t>selected by hleapp.alprofile</a:t>
            </a:r>
          </a:p>
        </p:txBody>
      </p:sp>
      <p:sp>
        <p:nvSpPr>
          <p:cNvPr id="13" name="Rounded Rectangle 12"/>
          <p:cNvSpPr/>
          <p:nvPr/>
        </p:nvSpPr>
        <p:spPr>
          <a:xfrm>
            <a:off x="9052560" y="1783080"/>
            <a:ext cx="2606040" cy="160020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1160" y="1920240"/>
            <a:ext cx="2194560" cy="822960"/>
          </a:xfrm>
          <a:prstGeom prst="rect">
            <a:avLst/>
          </a:prstGeom>
          <a:noFill/>
        </p:spPr>
        <p:txBody>
          <a:bodyPr wrap="square" anchor="t" lIns="0" rIns="0" tIns="0" bIns="0">
            <a:spAutoFit/>
          </a:bodyPr>
          <a:lstStyle/>
          <a:p>
            <a:pPr algn="l">
              <a:spcAft>
                <a:spcPts val="600"/>
              </a:spcAft>
            </a:pPr>
            <a:r>
              <a:rPr sz="4000" b="1" i="0">
                <a:solidFill>
                  <a:srgbClr val="1F2A36"/>
                </a:solidFill>
                <a:latin typeface="Cambria"/>
              </a:rPr>
              <a:t>2.2 KB</a:t>
            </a:r>
          </a:p>
        </p:txBody>
      </p:sp>
      <p:sp>
        <p:nvSpPr>
          <p:cNvPr id="15" name="TextBox 14"/>
          <p:cNvSpPr txBox="1"/>
          <p:nvPr/>
        </p:nvSpPr>
        <p:spPr>
          <a:xfrm>
            <a:off x="9281160" y="2743200"/>
            <a:ext cx="2194560" cy="548640"/>
          </a:xfrm>
          <a:prstGeom prst="rect">
            <a:avLst/>
          </a:prstGeom>
          <a:noFill/>
        </p:spPr>
        <p:txBody>
          <a:bodyPr wrap="square" anchor="t" lIns="0" rIns="0" tIns="0" bIns="0">
            <a:spAutoFit/>
          </a:bodyPr>
          <a:lstStyle/>
          <a:p>
            <a:pPr algn="l">
              <a:spcAft>
                <a:spcPts val="600"/>
              </a:spcAft>
            </a:pPr>
            <a:r>
              <a:rPr sz="1400" b="0" i="0">
                <a:solidFill>
                  <a:srgbClr val="3D4B5C"/>
                </a:solidFill>
                <a:latin typeface="Calibri"/>
              </a:rPr>
              <a:t>matcher (was ~118 KB)</a:t>
            </a:r>
          </a:p>
        </p:txBody>
      </p:sp>
      <p:sp>
        <p:nvSpPr>
          <p:cNvPr id="16" name="Oval 15"/>
          <p:cNvSpPr/>
          <p:nvPr/>
        </p:nvSpPr>
        <p:spPr>
          <a:xfrm>
            <a:off x="548640" y="3749039"/>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1</a:t>
            </a:r>
          </a:p>
        </p:txBody>
      </p:sp>
      <p:sp>
        <p:nvSpPr>
          <p:cNvPr id="17" name="TextBox 16"/>
          <p:cNvSpPr txBox="1"/>
          <p:nvPr/>
        </p:nvSpPr>
        <p:spPr>
          <a:xfrm>
            <a:off x="1188720" y="3776472"/>
            <a:ext cx="1280160" cy="457200"/>
          </a:xfrm>
          <a:prstGeom prst="rect">
            <a:avLst/>
          </a:prstGeom>
          <a:noFill/>
        </p:spPr>
        <p:txBody>
          <a:bodyPr wrap="square" anchor="t" lIns="0" rIns="0" tIns="0" bIns="0">
            <a:spAutoFit/>
          </a:bodyPr>
          <a:lstStyle/>
          <a:p>
            <a:pPr algn="l">
              <a:spcAft>
                <a:spcPts val="600"/>
              </a:spcAft>
            </a:pPr>
            <a:r>
              <a:rPr sz="1600" b="1" i="0">
                <a:solidFill>
                  <a:srgbClr val="1F2A36"/>
                </a:solidFill>
                <a:latin typeface="Calibri"/>
              </a:rPr>
              <a:t>Anchor</a:t>
            </a:r>
          </a:p>
        </p:txBody>
      </p:sp>
      <p:sp>
        <p:nvSpPr>
          <p:cNvPr id="18" name="TextBox 17"/>
          <p:cNvSpPr txBox="1"/>
          <p:nvPr/>
        </p:nvSpPr>
        <p:spPr>
          <a:xfrm>
            <a:off x="2468880" y="3776472"/>
            <a:ext cx="9144000" cy="685800"/>
          </a:xfrm>
          <a:prstGeom prst="rect">
            <a:avLst/>
          </a:prstGeom>
          <a:noFill/>
        </p:spPr>
        <p:txBody>
          <a:bodyPr wrap="square" anchor="t" lIns="0" rIns="0" tIns="0" bIns="0">
            <a:spAutoFit/>
          </a:bodyPr>
          <a:lstStyle/>
          <a:p>
            <a:pPr algn="l">
              <a:spcAft>
                <a:spcPts val="600"/>
              </a:spcAft>
            </a:pPr>
            <a:r>
              <a:rPr sz="1400" b="0" i="0">
                <a:solidFill>
                  <a:srgbClr val="1F2A36"/>
                </a:solidFill>
                <a:latin typeface="Calibri"/>
              </a:rPr>
              <a:t>A module's first glob; sqlite sidecars (-wal, -shm, -journal) never anchor, a glob ending in /* anchors on the folder</a:t>
            </a:r>
          </a:p>
        </p:txBody>
      </p:sp>
      <p:sp>
        <p:nvSpPr>
          <p:cNvPr id="19" name="Oval 18"/>
          <p:cNvSpPr/>
          <p:nvPr/>
        </p:nvSpPr>
        <p:spPr>
          <a:xfrm>
            <a:off x="548640" y="4480559"/>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2</a:t>
            </a:r>
          </a:p>
        </p:txBody>
      </p:sp>
      <p:sp>
        <p:nvSpPr>
          <p:cNvPr id="20" name="TextBox 19"/>
          <p:cNvSpPr txBox="1"/>
          <p:nvPr/>
        </p:nvSpPr>
        <p:spPr>
          <a:xfrm>
            <a:off x="1188720" y="4507992"/>
            <a:ext cx="1280160" cy="457200"/>
          </a:xfrm>
          <a:prstGeom prst="rect">
            <a:avLst/>
          </a:prstGeom>
          <a:noFill/>
        </p:spPr>
        <p:txBody>
          <a:bodyPr wrap="square" anchor="t" lIns="0" rIns="0" tIns="0" bIns="0">
            <a:spAutoFit/>
          </a:bodyPr>
          <a:lstStyle/>
          <a:p>
            <a:pPr algn="l">
              <a:spcAft>
                <a:spcPts val="600"/>
              </a:spcAft>
            </a:pPr>
            <a:r>
              <a:rPr sz="1600" b="1" i="0">
                <a:solidFill>
                  <a:srgbClr val="1F2A36"/>
                </a:solidFill>
                <a:latin typeface="Calibri"/>
              </a:rPr>
              <a:t>Drop</a:t>
            </a:r>
          </a:p>
        </p:txBody>
      </p:sp>
      <p:sp>
        <p:nvSpPr>
          <p:cNvPr id="21" name="TextBox 20"/>
          <p:cNvSpPr txBox="1"/>
          <p:nvPr/>
        </p:nvSpPr>
        <p:spPr>
          <a:xfrm>
            <a:off x="2468880" y="4507992"/>
            <a:ext cx="9144000" cy="685800"/>
          </a:xfrm>
          <a:prstGeom prst="rect">
            <a:avLst/>
          </a:prstGeom>
          <a:noFill/>
        </p:spPr>
        <p:txBody>
          <a:bodyPr wrap="square" anchor="t" lIns="0" rIns="0" tIns="0" bIns="0">
            <a:spAutoFit/>
          </a:bodyPr>
          <a:lstStyle/>
          <a:p>
            <a:pPr algn="l">
              <a:spcAft>
                <a:spcPts val="600"/>
              </a:spcAft>
            </a:pPr>
            <a:r>
              <a:rPr sz="1400" b="0" i="0">
                <a:solidFill>
                  <a:srgbClr val="1F2A36"/>
                </a:solidFill>
                <a:latin typeface="Calibri"/>
              </a:rPr>
              <a:t>Generic anchors (*/*-wal, *.jpg) and modules that need a file another module anchors on (anchors.CONFLICT_DROPS)</a:t>
            </a:r>
          </a:p>
        </p:txBody>
      </p:sp>
      <p:sp>
        <p:nvSpPr>
          <p:cNvPr id="22" name="Oval 21"/>
          <p:cNvSpPr/>
          <p:nvPr/>
        </p:nvSpPr>
        <p:spPr>
          <a:xfrm>
            <a:off x="548640" y="5212079"/>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3</a:t>
            </a:r>
          </a:p>
        </p:txBody>
      </p:sp>
      <p:sp>
        <p:nvSpPr>
          <p:cNvPr id="23" name="TextBox 22"/>
          <p:cNvSpPr txBox="1"/>
          <p:nvPr/>
        </p:nvSpPr>
        <p:spPr>
          <a:xfrm>
            <a:off x="1188720" y="5239512"/>
            <a:ext cx="1280160" cy="457200"/>
          </a:xfrm>
          <a:prstGeom prst="rect">
            <a:avLst/>
          </a:prstGeom>
          <a:noFill/>
        </p:spPr>
        <p:txBody>
          <a:bodyPr wrap="square" anchor="t" lIns="0" rIns="0" tIns="0" bIns="0">
            <a:spAutoFit/>
          </a:bodyPr>
          <a:lstStyle/>
          <a:p>
            <a:pPr algn="l">
              <a:spcAft>
                <a:spcPts val="600"/>
              </a:spcAft>
            </a:pPr>
            <a:r>
              <a:rPr sz="1600" b="1" i="0">
                <a:solidFill>
                  <a:srgbClr val="1F2A36"/>
                </a:solidFill>
                <a:latin typeface="Calibri"/>
              </a:rPr>
              <a:t>Run</a:t>
            </a:r>
          </a:p>
        </p:txBody>
      </p:sp>
      <p:sp>
        <p:nvSpPr>
          <p:cNvPr id="24" name="TextBox 23"/>
          <p:cNvSpPr txBox="1"/>
          <p:nvPr/>
        </p:nvSpPr>
        <p:spPr>
          <a:xfrm>
            <a:off x="2468880" y="5239512"/>
            <a:ext cx="9144000" cy="685800"/>
          </a:xfrm>
          <a:prstGeom prst="rect">
            <a:avLst/>
          </a:prstGeom>
          <a:noFill/>
        </p:spPr>
        <p:txBody>
          <a:bodyPr wrap="square" anchor="t" lIns="0" rIns="0" tIns="0" bIns="0">
            <a:spAutoFit/>
          </a:bodyPr>
          <a:lstStyle/>
          <a:p>
            <a:pPr algn="l">
              <a:spcAft>
                <a:spcPts val="600"/>
              </a:spcAft>
            </a:pPr>
            <a:r>
              <a:rPr sz="1400" b="0" i="0">
                <a:solidFill>
                  <a:srgbClr val="1F2A36"/>
                </a:solidFill>
                <a:latin typeface="Calibri"/>
              </a:rPr>
              <a:t>A trace starts every kept module whose anchor matches it, in one ALEAPP run</a:t>
            </a:r>
          </a:p>
        </p:txBody>
      </p:sp>
      <p:sp>
        <p:nvSpPr>
          <p:cNvPr id="25" name="Oval 24"/>
          <p:cNvSpPr/>
          <p:nvPr/>
        </p:nvSpPr>
        <p:spPr>
          <a:xfrm>
            <a:off x="548640" y="594360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4</a:t>
            </a:r>
          </a:p>
        </p:txBody>
      </p:sp>
      <p:sp>
        <p:nvSpPr>
          <p:cNvPr id="26" name="TextBox 25"/>
          <p:cNvSpPr txBox="1"/>
          <p:nvPr/>
        </p:nvSpPr>
        <p:spPr>
          <a:xfrm>
            <a:off x="1188720" y="5971032"/>
            <a:ext cx="1280160" cy="457200"/>
          </a:xfrm>
          <a:prstGeom prst="rect">
            <a:avLst/>
          </a:prstGeom>
          <a:noFill/>
        </p:spPr>
        <p:txBody>
          <a:bodyPr wrap="square" anchor="t" lIns="0" rIns="0" tIns="0" bIns="0">
            <a:spAutoFit/>
          </a:bodyPr>
          <a:lstStyle/>
          <a:p>
            <a:pPr algn="l">
              <a:spcAft>
                <a:spcPts val="600"/>
              </a:spcAft>
            </a:pPr>
            <a:r>
              <a:rPr sz="1600" b="1" i="0">
                <a:solidFill>
                  <a:srgbClr val="1F2A36"/>
                </a:solidFill>
                <a:latin typeface="Calibri"/>
              </a:rPr>
              <a:t>Select</a:t>
            </a:r>
          </a:p>
        </p:txBody>
      </p:sp>
      <p:sp>
        <p:nvSpPr>
          <p:cNvPr id="27" name="TextBox 26"/>
          <p:cNvSpPr txBox="1"/>
          <p:nvPr/>
        </p:nvSpPr>
        <p:spPr>
          <a:xfrm>
            <a:off x="2468880" y="5971032"/>
            <a:ext cx="9144000" cy="685800"/>
          </a:xfrm>
          <a:prstGeom prst="rect">
            <a:avLst/>
          </a:prstGeom>
          <a:noFill/>
        </p:spPr>
        <p:txBody>
          <a:bodyPr wrap="square" anchor="t" lIns="0" rIns="0" tIns="0" bIns="0">
            <a:spAutoFit/>
          </a:bodyPr>
          <a:lstStyle/>
          <a:p>
            <a:pPr algn="l">
              <a:spcAft>
                <a:spcPts val="600"/>
              </a:spcAft>
            </a:pPr>
            <a:r>
              <a:rPr sz="1400" b="0" i="0">
                <a:solidFill>
                  <a:srgbClr val="1F2A36"/>
                </a:solidFill>
                <a:latin typeface="Calibri"/>
              </a:rPr>
              <a:t>hleapp.alprofile (ALEAPP profile format) limits the plugin to the modules the example tree starts; tools/anchor_check.py regenerates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600" b="1" i="0">
                <a:solidFill>
                  <a:srgbClr val="1F2A36"/>
                </a:solidFill>
                <a:latin typeface="Cambria"/>
              </a:rPr>
              <a:t>One run, step by step</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i="1">
                <a:solidFill>
                  <a:srgbClr val="6B7A8A"/>
                </a:solidFill>
                <a:latin typeface="Calibri"/>
              </a:rPr>
              <a:t>Example: gmm_storage.db (Google Maps directions)</a:t>
            </a:r>
          </a:p>
        </p:txBody>
      </p:sp>
      <p:sp>
        <p:nvSpPr>
          <p:cNvPr id="4" name="Rounded Rectangle 3"/>
          <p:cNvSpPr/>
          <p:nvPr/>
        </p:nvSpPr>
        <p:spPr>
          <a:xfrm>
            <a:off x="548640" y="1828800"/>
            <a:ext cx="2606040" cy="1874519"/>
          </a:xfrm>
          <a:prstGeom prst="roundRect">
            <a:avLst>
              <a:gd name="adj" fmla="val 8000"/>
            </a:avLst>
          </a:prstGeom>
          <a:solidFill>
            <a:srgbClr val="1F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201168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1</a:t>
            </a:r>
          </a:p>
        </p:txBody>
      </p:sp>
      <p:sp>
        <p:nvSpPr>
          <p:cNvPr id="6" name="TextBox 5"/>
          <p:cNvSpPr txBox="1"/>
          <p:nvPr/>
        </p:nvSpPr>
        <p:spPr>
          <a:xfrm>
            <a:off x="1325880" y="2057400"/>
            <a:ext cx="1737360" cy="411480"/>
          </a:xfrm>
          <a:prstGeom prst="rect">
            <a:avLst/>
          </a:prstGeom>
          <a:noFill/>
        </p:spPr>
        <p:txBody>
          <a:bodyPr wrap="square" anchor="t" lIns="0" rIns="0" tIns="0" bIns="0">
            <a:spAutoFit/>
          </a:bodyPr>
          <a:lstStyle/>
          <a:p>
            <a:pPr algn="l">
              <a:spcAft>
                <a:spcPts val="600"/>
              </a:spcAft>
            </a:pPr>
            <a:r>
              <a:rPr sz="1800" b="1" i="0">
                <a:solidFill>
                  <a:srgbClr val="FFFFFF"/>
                </a:solidFill>
                <a:latin typeface="Cambria"/>
              </a:rPr>
              <a:t>Match</a:t>
            </a:r>
          </a:p>
        </p:txBody>
      </p:sp>
      <p:sp>
        <p:nvSpPr>
          <p:cNvPr id="7" name="TextBox 6"/>
          <p:cNvSpPr txBox="1"/>
          <p:nvPr/>
        </p:nvSpPr>
        <p:spPr>
          <a:xfrm>
            <a:off x="731520" y="2606040"/>
            <a:ext cx="2286000" cy="1005840"/>
          </a:xfrm>
          <a:prstGeom prst="rect">
            <a:avLst/>
          </a:prstGeom>
          <a:noFill/>
        </p:spPr>
        <p:txBody>
          <a:bodyPr wrap="square" anchor="t" lIns="0" rIns="0" tIns="0" bIns="0">
            <a:spAutoFit/>
          </a:bodyPr>
          <a:lstStyle/>
          <a:p>
            <a:pPr algn="l">
              <a:spcAft>
                <a:spcPts val="600"/>
              </a:spcAft>
            </a:pPr>
            <a:r>
              <a:rPr sz="1300" b="0" i="0">
                <a:solidFill>
                  <a:srgbClr val="E8EEF3"/>
                </a:solidFill>
                <a:latin typeface="Calibri"/>
              </a:rPr>
              <a:t>Hansken hands the anchor trace to process()</a:t>
            </a:r>
          </a:p>
        </p:txBody>
      </p:sp>
      <p:cxnSp>
        <p:nvCxnSpPr>
          <p:cNvPr id="8" name="Connector 7"/>
          <p:cNvCxnSpPr/>
          <p:nvPr/>
        </p:nvCxnSpPr>
        <p:spPr>
          <a:xfrm>
            <a:off x="3172968" y="2761488"/>
            <a:ext cx="192024" cy="0"/>
          </a:xfrm>
          <a:prstGeom prst="line">
            <a:avLst/>
          </a:prstGeom>
          <a:ln w="3175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383280" y="1828800"/>
            <a:ext cx="2606040" cy="1874519"/>
          </a:xfrm>
          <a:prstGeom prst="roundRect">
            <a:avLst>
              <a:gd name="adj" fmla="val 8000"/>
            </a:avLst>
          </a:prstGeom>
          <a:solidFill>
            <a:srgbClr val="1F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66160" y="201168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2</a:t>
            </a:r>
          </a:p>
        </p:txBody>
      </p:sp>
      <p:sp>
        <p:nvSpPr>
          <p:cNvPr id="11" name="TextBox 10"/>
          <p:cNvSpPr txBox="1"/>
          <p:nvPr/>
        </p:nvSpPr>
        <p:spPr>
          <a:xfrm>
            <a:off x="4160520" y="2057400"/>
            <a:ext cx="1737360" cy="411480"/>
          </a:xfrm>
          <a:prstGeom prst="rect">
            <a:avLst/>
          </a:prstGeom>
          <a:noFill/>
        </p:spPr>
        <p:txBody>
          <a:bodyPr wrap="square" anchor="t" lIns="0" rIns="0" tIns="0" bIns="0">
            <a:spAutoFit/>
          </a:bodyPr>
          <a:lstStyle/>
          <a:p>
            <a:pPr algn="l">
              <a:spcAft>
                <a:spcPts val="600"/>
              </a:spcAft>
            </a:pPr>
            <a:r>
              <a:rPr sz="1800" b="1" i="0">
                <a:solidFill>
                  <a:srgbClr val="FFFFFF"/>
                </a:solidFill>
                <a:latin typeface="Cambria"/>
              </a:rPr>
              <a:t>Plan</a:t>
            </a:r>
          </a:p>
        </p:txBody>
      </p:sp>
      <p:sp>
        <p:nvSpPr>
          <p:cNvPr id="12" name="TextBox 11"/>
          <p:cNvSpPr txBox="1"/>
          <p:nvPr/>
        </p:nvSpPr>
        <p:spPr>
          <a:xfrm>
            <a:off x="3566160" y="2606040"/>
            <a:ext cx="2286000" cy="1005840"/>
          </a:xfrm>
          <a:prstGeom prst="rect">
            <a:avLst/>
          </a:prstGeom>
          <a:noFill/>
        </p:spPr>
        <p:txBody>
          <a:bodyPr wrap="square" anchor="t" lIns="0" rIns="0" tIns="0" bIns="0">
            <a:spAutoFit/>
          </a:bodyPr>
          <a:lstStyle/>
          <a:p>
            <a:pPr algn="l">
              <a:spcAft>
                <a:spcPts val="600"/>
              </a:spcAft>
            </a:pPr>
            <a:r>
              <a:rPr sz="1300" b="0" i="0">
                <a:solidFill>
                  <a:srgbClr val="E8EEF3"/>
                </a:solidFill>
                <a:latin typeface="Calibri"/>
              </a:rPr>
              <a:t>Anchor plan: get_googleMapsGmm; write .alprofile</a:t>
            </a:r>
          </a:p>
        </p:txBody>
      </p:sp>
      <p:cxnSp>
        <p:nvCxnSpPr>
          <p:cNvPr id="13" name="Connector 12"/>
          <p:cNvCxnSpPr/>
          <p:nvPr/>
        </p:nvCxnSpPr>
        <p:spPr>
          <a:xfrm>
            <a:off x="6007608" y="2761488"/>
            <a:ext cx="192024" cy="0"/>
          </a:xfrm>
          <a:prstGeom prst="line">
            <a:avLst/>
          </a:prstGeom>
          <a:ln w="3175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17920" y="1828800"/>
            <a:ext cx="2606040" cy="1874519"/>
          </a:xfrm>
          <a:prstGeom prst="roundRect">
            <a:avLst>
              <a:gd name="adj" fmla="val 8000"/>
            </a:avLst>
          </a:prstGeom>
          <a:solidFill>
            <a:srgbClr val="1F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0" y="201168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3</a:t>
            </a:r>
          </a:p>
        </p:txBody>
      </p:sp>
      <p:sp>
        <p:nvSpPr>
          <p:cNvPr id="16" name="TextBox 15"/>
          <p:cNvSpPr txBox="1"/>
          <p:nvPr/>
        </p:nvSpPr>
        <p:spPr>
          <a:xfrm>
            <a:off x="6995159" y="2057400"/>
            <a:ext cx="1737360" cy="411480"/>
          </a:xfrm>
          <a:prstGeom prst="rect">
            <a:avLst/>
          </a:prstGeom>
          <a:noFill/>
        </p:spPr>
        <p:txBody>
          <a:bodyPr wrap="square" anchor="t" lIns="0" rIns="0" tIns="0" bIns="0">
            <a:spAutoFit/>
          </a:bodyPr>
          <a:lstStyle/>
          <a:p>
            <a:pPr algn="l">
              <a:spcAft>
                <a:spcPts val="600"/>
              </a:spcAft>
            </a:pPr>
            <a:r>
              <a:rPr sz="1800" b="1" i="0">
                <a:solidFill>
                  <a:srgbClr val="FFFFFF"/>
                </a:solidFill>
                <a:latin typeface="Cambria"/>
              </a:rPr>
              <a:t>Launch</a:t>
            </a:r>
          </a:p>
        </p:txBody>
      </p:sp>
      <p:sp>
        <p:nvSpPr>
          <p:cNvPr id="17" name="TextBox 16"/>
          <p:cNvSpPr txBox="1"/>
          <p:nvPr/>
        </p:nvSpPr>
        <p:spPr>
          <a:xfrm>
            <a:off x="6400800" y="2606040"/>
            <a:ext cx="2286000" cy="1005840"/>
          </a:xfrm>
          <a:prstGeom prst="rect">
            <a:avLst/>
          </a:prstGeom>
          <a:noFill/>
        </p:spPr>
        <p:txBody>
          <a:bodyPr wrap="square" anchor="t" lIns="0" rIns="0" tIns="0" bIns="0">
            <a:spAutoFit/>
          </a:bodyPr>
          <a:lstStyle/>
          <a:p>
            <a:pPr algn="l">
              <a:spcAft>
                <a:spcPts val="600"/>
              </a:spcAft>
            </a:pPr>
            <a:r>
              <a:rPr sz="1300" b="0" i="0">
                <a:solidFill>
                  <a:srgbClr val="E8EEF3"/>
                </a:solidFill>
                <a:latin typeface="Calibri"/>
              </a:rPr>
              <a:t>hleapp_launcher.py starts ALEAPP with an empty input folder</a:t>
            </a:r>
          </a:p>
        </p:txBody>
      </p:sp>
      <p:cxnSp>
        <p:nvCxnSpPr>
          <p:cNvPr id="18" name="Connector 17"/>
          <p:cNvCxnSpPr/>
          <p:nvPr/>
        </p:nvCxnSpPr>
        <p:spPr>
          <a:xfrm>
            <a:off x="8842248" y="2761488"/>
            <a:ext cx="192024" cy="0"/>
          </a:xfrm>
          <a:prstGeom prst="line">
            <a:avLst/>
          </a:prstGeom>
          <a:ln w="3175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052560" y="1828800"/>
            <a:ext cx="2606040" cy="1874519"/>
          </a:xfrm>
          <a:prstGeom prst="roundRect">
            <a:avLst>
              <a:gd name="adj" fmla="val 8000"/>
            </a:avLst>
          </a:prstGeom>
          <a:solidFill>
            <a:srgbClr val="1F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35440" y="201168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4</a:t>
            </a:r>
          </a:p>
        </p:txBody>
      </p:sp>
      <p:sp>
        <p:nvSpPr>
          <p:cNvPr id="21" name="TextBox 20"/>
          <p:cNvSpPr txBox="1"/>
          <p:nvPr/>
        </p:nvSpPr>
        <p:spPr>
          <a:xfrm>
            <a:off x="9829800" y="2057400"/>
            <a:ext cx="1737360" cy="411480"/>
          </a:xfrm>
          <a:prstGeom prst="rect">
            <a:avLst/>
          </a:prstGeom>
          <a:noFill/>
        </p:spPr>
        <p:txBody>
          <a:bodyPr wrap="square" anchor="t" lIns="0" rIns="0" tIns="0" bIns="0">
            <a:spAutoFit/>
          </a:bodyPr>
          <a:lstStyle/>
          <a:p>
            <a:pPr algn="l">
              <a:spcAft>
                <a:spcPts val="600"/>
              </a:spcAft>
            </a:pPr>
            <a:r>
              <a:rPr sz="1800" b="1" i="0">
                <a:solidFill>
                  <a:srgbClr val="FFFFFF"/>
                </a:solidFill>
                <a:latin typeface="Cambria"/>
              </a:rPr>
              <a:t>Ask</a:t>
            </a:r>
          </a:p>
        </p:txBody>
      </p:sp>
      <p:sp>
        <p:nvSpPr>
          <p:cNvPr id="22" name="TextBox 21"/>
          <p:cNvSpPr txBox="1"/>
          <p:nvPr/>
        </p:nvSpPr>
        <p:spPr>
          <a:xfrm>
            <a:off x="9235440" y="2606040"/>
            <a:ext cx="2286000" cy="1005840"/>
          </a:xfrm>
          <a:prstGeom prst="rect">
            <a:avLst/>
          </a:prstGeom>
          <a:noFill/>
        </p:spPr>
        <p:txBody>
          <a:bodyPr wrap="square" anchor="t" lIns="0" rIns="0" tIns="0" bIns="0">
            <a:spAutoFit/>
          </a:bodyPr>
          <a:lstStyle/>
          <a:p>
            <a:pPr algn="l">
              <a:spcAft>
                <a:spcPts val="600"/>
              </a:spcAft>
            </a:pPr>
            <a:r>
              <a:rPr sz="1300" b="0" i="0">
                <a:solidFill>
                  <a:srgbClr val="E8EEF3"/>
                </a:solidFill>
                <a:latin typeface="Calibri"/>
              </a:rPr>
              <a:t>ALEAPP: seeker.search("*/…/gmm_storage.db*")</a:t>
            </a:r>
          </a:p>
        </p:txBody>
      </p:sp>
      <p:sp>
        <p:nvSpPr>
          <p:cNvPr id="23" name="Rounded Rectangle 22"/>
          <p:cNvSpPr/>
          <p:nvPr/>
        </p:nvSpPr>
        <p:spPr>
          <a:xfrm>
            <a:off x="548640" y="4069080"/>
            <a:ext cx="2606040" cy="1874519"/>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425196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5</a:t>
            </a:r>
          </a:p>
        </p:txBody>
      </p:sp>
      <p:sp>
        <p:nvSpPr>
          <p:cNvPr id="25" name="TextBox 24"/>
          <p:cNvSpPr txBox="1"/>
          <p:nvPr/>
        </p:nvSpPr>
        <p:spPr>
          <a:xfrm>
            <a:off x="1325880" y="4297680"/>
            <a:ext cx="1737360" cy="411480"/>
          </a:xfrm>
          <a:prstGeom prst="rect">
            <a:avLst/>
          </a:prstGeom>
          <a:noFill/>
        </p:spPr>
        <p:txBody>
          <a:bodyPr wrap="square" anchor="t" lIns="0" rIns="0" tIns="0" bIns="0">
            <a:spAutoFit/>
          </a:bodyPr>
          <a:lstStyle/>
          <a:p>
            <a:pPr algn="l">
              <a:spcAft>
                <a:spcPts val="600"/>
              </a:spcAft>
            </a:pPr>
            <a:r>
              <a:rPr sz="1800" b="1" i="0">
                <a:solidFill>
                  <a:srgbClr val="1F2A36"/>
                </a:solidFill>
                <a:latin typeface="Cambria"/>
              </a:rPr>
              <a:t>Find</a:t>
            </a:r>
          </a:p>
        </p:txBody>
      </p:sp>
      <p:sp>
        <p:nvSpPr>
          <p:cNvPr id="26" name="TextBox 25"/>
          <p:cNvSpPr txBox="1"/>
          <p:nvPr/>
        </p:nvSpPr>
        <p:spPr>
          <a:xfrm>
            <a:off x="731520" y="4846320"/>
            <a:ext cx="2286000" cy="1005840"/>
          </a:xfrm>
          <a:prstGeom prst="rect">
            <a:avLst/>
          </a:prstGeom>
          <a:noFill/>
        </p:spPr>
        <p:txBody>
          <a:bodyPr wrap="square" anchor="t" lIns="0" rIns="0" tIns="0" bIns="0">
            <a:spAutoFit/>
          </a:bodyPr>
          <a:lstStyle/>
          <a:p>
            <a:pPr algn="l">
              <a:spcAft>
                <a:spcPts val="600"/>
              </a:spcAft>
            </a:pPr>
            <a:r>
              <a:rPr sz="1300" b="0" i="0">
                <a:solidFill>
                  <a:srgbClr val="3D4B5C"/>
                </a:solidFill>
                <a:latin typeface="Calibri"/>
              </a:rPr>
              <a:t>Stager: anchor + Hansken query file.name:gmm_storage.db*</a:t>
            </a:r>
          </a:p>
        </p:txBody>
      </p:sp>
      <p:cxnSp>
        <p:nvCxnSpPr>
          <p:cNvPr id="27" name="Connector 26"/>
          <p:cNvCxnSpPr/>
          <p:nvPr/>
        </p:nvCxnSpPr>
        <p:spPr>
          <a:xfrm>
            <a:off x="3172968" y="5001768"/>
            <a:ext cx="192024" cy="0"/>
          </a:xfrm>
          <a:prstGeom prst="line">
            <a:avLst/>
          </a:prstGeom>
          <a:ln w="3175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3383280" y="4069080"/>
            <a:ext cx="2606040" cy="1874519"/>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566160" y="425196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6</a:t>
            </a:r>
          </a:p>
        </p:txBody>
      </p:sp>
      <p:sp>
        <p:nvSpPr>
          <p:cNvPr id="30" name="TextBox 29"/>
          <p:cNvSpPr txBox="1"/>
          <p:nvPr/>
        </p:nvSpPr>
        <p:spPr>
          <a:xfrm>
            <a:off x="4160520" y="4297680"/>
            <a:ext cx="1737360" cy="411480"/>
          </a:xfrm>
          <a:prstGeom prst="rect">
            <a:avLst/>
          </a:prstGeom>
          <a:noFill/>
        </p:spPr>
        <p:txBody>
          <a:bodyPr wrap="square" anchor="t" lIns="0" rIns="0" tIns="0" bIns="0">
            <a:spAutoFit/>
          </a:bodyPr>
          <a:lstStyle/>
          <a:p>
            <a:pPr algn="l">
              <a:spcAft>
                <a:spcPts val="600"/>
              </a:spcAft>
            </a:pPr>
            <a:r>
              <a:rPr sz="1800" b="1" i="0">
                <a:solidFill>
                  <a:srgbClr val="1F2A36"/>
                </a:solidFill>
                <a:latin typeface="Cambria"/>
              </a:rPr>
              <a:t>Stage</a:t>
            </a:r>
          </a:p>
        </p:txBody>
      </p:sp>
      <p:sp>
        <p:nvSpPr>
          <p:cNvPr id="31" name="TextBox 30"/>
          <p:cNvSpPr txBox="1"/>
          <p:nvPr/>
        </p:nvSpPr>
        <p:spPr>
          <a:xfrm>
            <a:off x="3566160" y="4846320"/>
            <a:ext cx="2286000" cy="1005840"/>
          </a:xfrm>
          <a:prstGeom prst="rect">
            <a:avLst/>
          </a:prstGeom>
          <a:noFill/>
        </p:spPr>
        <p:txBody>
          <a:bodyPr wrap="square" anchor="t" lIns="0" rIns="0" tIns="0" bIns="0">
            <a:spAutoFit/>
          </a:bodyPr>
          <a:lstStyle/>
          <a:p>
            <a:pPr algn="l">
              <a:spcAft>
                <a:spcPts val="600"/>
              </a:spcAft>
            </a:pPr>
            <a:r>
              <a:rPr sz="1300" b="0" i="0">
                <a:solidFill>
                  <a:srgbClr val="3D4B5C"/>
                </a:solidFill>
                <a:latin typeface="Calibri"/>
              </a:rPr>
              <a:t>Exact glob + scope check, write db and -journal</a:t>
            </a:r>
          </a:p>
        </p:txBody>
      </p:sp>
      <p:cxnSp>
        <p:nvCxnSpPr>
          <p:cNvPr id="32" name="Connector 31"/>
          <p:cNvCxnSpPr/>
          <p:nvPr/>
        </p:nvCxnSpPr>
        <p:spPr>
          <a:xfrm>
            <a:off x="6007608" y="5001768"/>
            <a:ext cx="192024" cy="0"/>
          </a:xfrm>
          <a:prstGeom prst="line">
            <a:avLst/>
          </a:prstGeom>
          <a:ln w="3175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217920" y="4069080"/>
            <a:ext cx="2606040" cy="1874519"/>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00800" y="425196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7</a:t>
            </a:r>
          </a:p>
        </p:txBody>
      </p:sp>
      <p:sp>
        <p:nvSpPr>
          <p:cNvPr id="35" name="TextBox 34"/>
          <p:cNvSpPr txBox="1"/>
          <p:nvPr/>
        </p:nvSpPr>
        <p:spPr>
          <a:xfrm>
            <a:off x="6995159" y="4297680"/>
            <a:ext cx="1737360" cy="411480"/>
          </a:xfrm>
          <a:prstGeom prst="rect">
            <a:avLst/>
          </a:prstGeom>
          <a:noFill/>
        </p:spPr>
        <p:txBody>
          <a:bodyPr wrap="square" anchor="t" lIns="0" rIns="0" tIns="0" bIns="0">
            <a:spAutoFit/>
          </a:bodyPr>
          <a:lstStyle/>
          <a:p>
            <a:pPr algn="l">
              <a:spcAft>
                <a:spcPts val="600"/>
              </a:spcAft>
            </a:pPr>
            <a:r>
              <a:rPr sz="1800" b="1" i="0">
                <a:solidFill>
                  <a:srgbClr val="1F2A36"/>
                </a:solidFill>
                <a:latin typeface="Cambria"/>
              </a:rPr>
              <a:t>Parse</a:t>
            </a:r>
          </a:p>
        </p:txBody>
      </p:sp>
      <p:sp>
        <p:nvSpPr>
          <p:cNvPr id="36" name="TextBox 35"/>
          <p:cNvSpPr txBox="1"/>
          <p:nvPr/>
        </p:nvSpPr>
        <p:spPr>
          <a:xfrm>
            <a:off x="6400800" y="4846320"/>
            <a:ext cx="2286000" cy="1005840"/>
          </a:xfrm>
          <a:prstGeom prst="rect">
            <a:avLst/>
          </a:prstGeom>
          <a:noFill/>
        </p:spPr>
        <p:txBody>
          <a:bodyPr wrap="square" anchor="t" lIns="0" rIns="0" tIns="0" bIns="0">
            <a:spAutoFit/>
          </a:bodyPr>
          <a:lstStyle/>
          <a:p>
            <a:pPr algn="l">
              <a:spcAft>
                <a:spcPts val="600"/>
              </a:spcAft>
            </a:pPr>
            <a:r>
              <a:rPr sz="1300" b="0" i="0">
                <a:solidFill>
                  <a:srgbClr val="3D4B5C"/>
                </a:solidFill>
                <a:latin typeface="Calibri"/>
              </a:rPr>
              <a:t>ALEAPP module reads the files, writes LAVA</a:t>
            </a:r>
          </a:p>
        </p:txBody>
      </p:sp>
      <p:cxnSp>
        <p:nvCxnSpPr>
          <p:cNvPr id="37" name="Connector 36"/>
          <p:cNvCxnSpPr/>
          <p:nvPr/>
        </p:nvCxnSpPr>
        <p:spPr>
          <a:xfrm>
            <a:off x="8842248" y="5001768"/>
            <a:ext cx="192024" cy="0"/>
          </a:xfrm>
          <a:prstGeom prst="line">
            <a:avLst/>
          </a:prstGeom>
          <a:ln w="31750">
            <a:solidFill>
              <a:srgbClr val="F2A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052560" y="4069080"/>
            <a:ext cx="2606040" cy="1874519"/>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235440" y="4251960"/>
            <a:ext cx="457200" cy="45720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1F2A36"/>
                </a:solidFill>
                <a:latin typeface="Calibri"/>
              </a:rPr>
              <a:t>8</a:t>
            </a:r>
          </a:p>
        </p:txBody>
      </p:sp>
      <p:sp>
        <p:nvSpPr>
          <p:cNvPr id="40" name="TextBox 39"/>
          <p:cNvSpPr txBox="1"/>
          <p:nvPr/>
        </p:nvSpPr>
        <p:spPr>
          <a:xfrm>
            <a:off x="9829800" y="4297680"/>
            <a:ext cx="1737360" cy="411480"/>
          </a:xfrm>
          <a:prstGeom prst="rect">
            <a:avLst/>
          </a:prstGeom>
          <a:noFill/>
        </p:spPr>
        <p:txBody>
          <a:bodyPr wrap="square" anchor="t" lIns="0" rIns="0" tIns="0" bIns="0">
            <a:spAutoFit/>
          </a:bodyPr>
          <a:lstStyle/>
          <a:p>
            <a:pPr algn="l">
              <a:spcAft>
                <a:spcPts val="600"/>
              </a:spcAft>
            </a:pPr>
            <a:r>
              <a:rPr sz="1800" b="1" i="0">
                <a:solidFill>
                  <a:srgbClr val="1F2A36"/>
                </a:solidFill>
                <a:latin typeface="Cambria"/>
              </a:rPr>
              <a:t>Report</a:t>
            </a:r>
          </a:p>
        </p:txBody>
      </p:sp>
      <p:sp>
        <p:nvSpPr>
          <p:cNvPr id="41" name="TextBox 40"/>
          <p:cNvSpPr txBox="1"/>
          <p:nvPr/>
        </p:nvSpPr>
        <p:spPr>
          <a:xfrm>
            <a:off x="9235440" y="4846320"/>
            <a:ext cx="2286000" cy="1005840"/>
          </a:xfrm>
          <a:prstGeom prst="rect">
            <a:avLst/>
          </a:prstGeom>
          <a:noFill/>
        </p:spPr>
        <p:txBody>
          <a:bodyPr wrap="square" anchor="t" lIns="0" rIns="0" tIns="0" bIns="0">
            <a:spAutoFit/>
          </a:bodyPr>
          <a:lstStyle/>
          <a:p>
            <a:pPr algn="l">
              <a:spcAft>
                <a:spcPts val="600"/>
              </a:spcAft>
            </a:pPr>
            <a:r>
              <a:rPr sz="1300" b="0" i="0">
                <a:solidFill>
                  <a:srgbClr val="3D4B5C"/>
                </a:solidFill>
                <a:latin typeface="Calibri"/>
              </a:rPr>
              <a:t>Child traces from LAVA + ALEAPP report zip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600" b="1" i="0">
                <a:solidFill>
                  <a:srgbClr val="1F2A36"/>
                </a:solidFill>
                <a:latin typeface="Cambria"/>
              </a:rPr>
              <a:t>Finding files on demand</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i="1">
                <a:solidFill>
                  <a:srgbClr val="6B7A8A"/>
                </a:solidFill>
                <a:latin typeface="Calibri"/>
              </a:rPr>
              <a:t>No listing up front: every ALEAPP glob becomes one Hansken query</a:t>
            </a:r>
          </a:p>
        </p:txBody>
      </p:sp>
      <p:graphicFrame>
        <p:nvGraphicFramePr>
          <p:cNvPr id="4" name="Table 3"/>
          <p:cNvGraphicFramePr>
            <a:graphicFrameLocks noGrp="1"/>
          </p:cNvGraphicFramePr>
          <p:nvPr/>
        </p:nvGraphicFramePr>
        <p:xfrm>
          <a:off x="548640" y="1783080"/>
          <a:ext cx="7315200" cy="2377440"/>
        </p:xfrm>
        <a:graphic>
          <a:graphicData uri="http://schemas.openxmlformats.org/drawingml/2006/table">
            <a:tbl>
              <a:tblPr firstRow="1" bandRow="1">
                <a:tableStyleId>{5C22544A-7EE6-4342-B048-85BDC9FD1C3A}</a:tableStyleId>
              </a:tblPr>
              <a:tblGrid>
                <a:gridCol w="2926080"/>
                <a:gridCol w="2743200"/>
                <a:gridCol w="1645920"/>
              </a:tblGrid>
              <a:tr h="475488">
                <a:tc>
                  <a:txBody>
                    <a:bodyPr/>
                    <a:lstStyle/>
                    <a:p>
                      <a:r>
                        <a:rPr sz="1200" b="1">
                          <a:solidFill>
                            <a:srgbClr val="FFFFFF"/>
                          </a:solidFill>
                          <a:latin typeface="Calibri"/>
                        </a:rPr>
                        <a:t>ALEAPP glob</a:t>
                      </a:r>
                    </a:p>
                  </a:txBody>
                  <a:tcPr marL="91440" marR="91440">
                    <a:solidFill>
                      <a:srgbClr val="1F2A36"/>
                    </a:solidFill>
                  </a:tcPr>
                </a:tc>
                <a:tc>
                  <a:txBody>
                    <a:bodyPr/>
                    <a:lstStyle/>
                    <a:p>
                      <a:r>
                        <a:rPr sz="1200" b="1">
                          <a:solidFill>
                            <a:srgbClr val="FFFFFF"/>
                          </a:solidFill>
                          <a:latin typeface="Calibri"/>
                        </a:rPr>
                        <a:t>Hansken query</a:t>
                      </a:r>
                    </a:p>
                  </a:txBody>
                  <a:tcPr marL="91440" marR="91440">
                    <a:solidFill>
                      <a:srgbClr val="1F2A36"/>
                    </a:solidFill>
                  </a:tcPr>
                </a:tc>
                <a:tc>
                  <a:txBody>
                    <a:bodyPr/>
                    <a:lstStyle/>
                    <a:p>
                      <a:r>
                        <a:rPr sz="1200" b="1">
                          <a:solidFill>
                            <a:srgbClr val="FFFFFF"/>
                          </a:solidFill>
                          <a:latin typeface="Calibri"/>
                        </a:rPr>
                        <a:t>Why</a:t>
                      </a:r>
                    </a:p>
                  </a:txBody>
                  <a:tcPr marL="91440" marR="91440">
                    <a:solidFill>
                      <a:srgbClr val="1F2A36"/>
                    </a:solidFill>
                  </a:tcPr>
                </a:tc>
              </a:tr>
              <a:tr h="475488">
                <a:tc>
                  <a:txBody>
                    <a:bodyPr/>
                    <a:lstStyle/>
                    <a:p>
                      <a:r>
                        <a:rPr sz="1200" b="0">
                          <a:solidFill>
                            <a:srgbClr val="1F2A36"/>
                          </a:solidFill>
                          <a:latin typeface="Courier New"/>
                        </a:rPr>
                        <a:t>*/…/databases/gmm_storage.db*</a:t>
                      </a:r>
                    </a:p>
                  </a:txBody>
                  <a:tcPr marL="91440" marR="91440">
                    <a:solidFill>
                      <a:srgbClr val="E8EEF3"/>
                    </a:solidFill>
                  </a:tcPr>
                </a:tc>
                <a:tc>
                  <a:txBody>
                    <a:bodyPr/>
                    <a:lstStyle/>
                    <a:p>
                      <a:r>
                        <a:rPr sz="1200" b="0">
                          <a:solidFill>
                            <a:srgbClr val="1F2A36"/>
                          </a:solidFill>
                          <a:latin typeface="Courier New"/>
                        </a:rPr>
                        <a:t>file.name:gmm_storage.db*</a:t>
                      </a:r>
                    </a:p>
                  </a:txBody>
                  <a:tcPr marL="91440" marR="91440">
                    <a:solidFill>
                      <a:srgbClr val="E8EEF3"/>
                    </a:solidFill>
                  </a:tcPr>
                </a:tc>
                <a:tc>
                  <a:txBody>
                    <a:bodyPr/>
                    <a:lstStyle/>
                    <a:p>
                      <a:r>
                        <a:rPr sz="1200" b="0">
                          <a:solidFill>
                            <a:srgbClr val="1F2A36"/>
                          </a:solidFill>
                          <a:latin typeface="Calibri"/>
                        </a:rPr>
                        <a:t>name has literal text</a:t>
                      </a:r>
                    </a:p>
                  </a:txBody>
                  <a:tcPr marL="91440" marR="91440">
                    <a:solidFill>
                      <a:srgbClr val="E8EEF3"/>
                    </a:solidFill>
                  </a:tcPr>
                </a:tc>
              </a:tr>
              <a:tr h="475488">
                <a:tc>
                  <a:txBody>
                    <a:bodyPr/>
                    <a:lstStyle/>
                    <a:p>
                      <a:r>
                        <a:rPr sz="1200" b="0">
                          <a:solidFill>
                            <a:srgbClr val="1F2A36"/>
                          </a:solidFill>
                          <a:latin typeface="Courier New"/>
                        </a:rPr>
                        <a:t>**/com.openai.chatgpt/cache/files/*</a:t>
                      </a:r>
                    </a:p>
                  </a:txBody>
                  <a:tcPr marL="91440" marR="91440">
                    <a:solidFill>
                      <a:srgbClr val="FFFFFF"/>
                    </a:solidFill>
                  </a:tcPr>
                </a:tc>
                <a:tc>
                  <a:txBody>
                    <a:bodyPr/>
                    <a:lstStyle/>
                    <a:p>
                      <a:r>
                        <a:rPr sz="1200" b="0">
                          <a:solidFill>
                            <a:srgbClr val="1F2A36"/>
                          </a:solidFill>
                          <a:latin typeface="Courier New"/>
                        </a:rPr>
                        <a:t>file.path:*/com.openai.chatgpt/cache/files/*</a:t>
                      </a:r>
                    </a:p>
                  </a:txBody>
                  <a:tcPr marL="91440" marR="91440">
                    <a:solidFill>
                      <a:srgbClr val="FFFFFF"/>
                    </a:solidFill>
                  </a:tcPr>
                </a:tc>
                <a:tc>
                  <a:txBody>
                    <a:bodyPr/>
                    <a:lstStyle/>
                    <a:p>
                      <a:r>
                        <a:rPr sz="1200" b="0">
                          <a:solidFill>
                            <a:srgbClr val="1F2A36"/>
                          </a:solidFill>
                          <a:latin typeface="Calibri"/>
                        </a:rPr>
                        <a:t>name is only *</a:t>
                      </a:r>
                    </a:p>
                  </a:txBody>
                  <a:tcPr marL="91440" marR="91440">
                    <a:solidFill>
                      <a:srgbClr val="FFFFFF"/>
                    </a:solidFill>
                  </a:tcPr>
                </a:tc>
              </a:tr>
              <a:tr h="475488">
                <a:tc>
                  <a:txBody>
                    <a:bodyPr/>
                    <a:lstStyle/>
                    <a:p>
                      <a:r>
                        <a:rPr sz="1200" b="0">
                          <a:solidFill>
                            <a:srgbClr val="1F2A36"/>
                          </a:solidFill>
                          <a:latin typeface="Courier New"/>
                        </a:rPr>
                        <a:t>*/cache/*/[0-9a-f]…[0-9a-f].[01]</a:t>
                      </a:r>
                    </a:p>
                  </a:txBody>
                  <a:tcPr marL="91440" marR="91440">
                    <a:solidFill>
                      <a:srgbClr val="E8EEF3"/>
                    </a:solidFill>
                  </a:tcPr>
                </a:tc>
                <a:tc>
                  <a:txBody>
                    <a:bodyPr/>
                    <a:lstStyle/>
                    <a:p>
                      <a:r>
                        <a:rPr sz="1200" b="0">
                          <a:solidFill>
                            <a:srgbClr val="1F2A36"/>
                          </a:solidFill>
                          <a:latin typeface="Courier New"/>
                        </a:rPr>
                        <a:t>file.name:??…?.?</a:t>
                      </a:r>
                    </a:p>
                  </a:txBody>
                  <a:tcPr marL="91440" marR="91440">
                    <a:solidFill>
                      <a:srgbClr val="E8EEF3"/>
                    </a:solidFill>
                  </a:tcPr>
                </a:tc>
                <a:tc>
                  <a:txBody>
                    <a:bodyPr/>
                    <a:lstStyle/>
                    <a:p>
                      <a:r>
                        <a:rPr sz="1200" b="0">
                          <a:solidFill>
                            <a:srgbClr val="1F2A36"/>
                          </a:solidFill>
                          <a:latin typeface="Calibri"/>
                        </a:rPr>
                        <a:t>character classes widen to ?</a:t>
                      </a:r>
                    </a:p>
                  </a:txBody>
                  <a:tcPr marL="91440" marR="91440">
                    <a:solidFill>
                      <a:srgbClr val="E8EEF3"/>
                    </a:solidFill>
                  </a:tcPr>
                </a:tc>
              </a:tr>
              <a:tr h="475488">
                <a:tc>
                  <a:txBody>
                    <a:bodyPr/>
                    <a:lstStyle/>
                    <a:p>
                      <a:r>
                        <a:rPr sz="1200" b="0">
                          <a:solidFill>
                            <a:srgbClr val="1F2A36"/>
                          </a:solidFill>
                          <a:latin typeface="Courier New"/>
                        </a:rPr>
                        <a:t>*/*/*</a:t>
                      </a:r>
                    </a:p>
                  </a:txBody>
                  <a:tcPr marL="91440" marR="91440">
                    <a:solidFill>
                      <a:srgbClr val="FFFFFF"/>
                    </a:solidFill>
                  </a:tcPr>
                </a:tc>
                <a:tc>
                  <a:txBody>
                    <a:bodyPr/>
                    <a:lstStyle/>
                    <a:p>
                      <a:r>
                        <a:rPr sz="1200" b="0">
                          <a:solidFill>
                            <a:srgbClr val="1F2A36"/>
                          </a:solidFill>
                          <a:latin typeface="Courier New"/>
                        </a:rPr>
                        <a:t>— not searched —</a:t>
                      </a:r>
                    </a:p>
                  </a:txBody>
                  <a:tcPr marL="91440" marR="91440">
                    <a:solidFill>
                      <a:srgbClr val="FFFFFF"/>
                    </a:solidFill>
                  </a:tcPr>
                </a:tc>
                <a:tc>
                  <a:txBody>
                    <a:bodyPr/>
                    <a:lstStyle/>
                    <a:p>
                      <a:r>
                        <a:rPr sz="1200" b="0">
                          <a:solidFill>
                            <a:srgbClr val="1F2A36"/>
                          </a:solidFill>
                          <a:latin typeface="Calibri"/>
                        </a:rPr>
                        <a:t>no literal text</a:t>
                      </a:r>
                    </a:p>
                  </a:txBody>
                  <a:tcPr marL="91440" marR="91440">
                    <a:solidFill>
                      <a:srgbClr val="FFFFFF"/>
                    </a:solidFill>
                  </a:tcPr>
                </a:tc>
              </a:tr>
            </a:tbl>
          </a:graphicData>
        </a:graphic>
      </p:graphicFrame>
      <p:sp>
        <p:nvSpPr>
          <p:cNvPr id="5" name="TextBox 4"/>
          <p:cNvSpPr txBox="1"/>
          <p:nvPr/>
        </p:nvSpPr>
        <p:spPr>
          <a:xfrm>
            <a:off x="548640" y="4389120"/>
            <a:ext cx="7315200" cy="1737360"/>
          </a:xfrm>
          <a:prstGeom prst="rect">
            <a:avLst/>
          </a:prstGeom>
          <a:noFill/>
        </p:spPr>
        <p:txBody>
          <a:bodyPr wrap="square" anchor="t" lIns="0" rIns="0" tIns="0" bIns="0">
            <a:spAutoFit/>
          </a:bodyPr>
          <a:lstStyle/>
          <a:p>
            <a:pPr algn="l" marL="228600" indent="-182880">
              <a:spcAft>
                <a:spcPts val="600"/>
              </a:spcAft>
              <a:buChar char="•"/>
            </a:pPr>
            <a:r>
              <a:rPr sz="1400" b="0" i="0">
                <a:solidFill>
                  <a:srgbClr val="1F2A36"/>
                </a:solidFill>
                <a:latin typeface="Calibri"/>
              </a:rPr>
              <a:t>Every query adds AND NOT type:deleted (search results carry no trace types).</a:t>
            </a:r>
          </a:p>
          <a:p>
            <a:pPr algn="l" marL="228600" indent="-182880">
              <a:spcAft>
                <a:spcPts val="600"/>
              </a:spcAft>
              <a:buChar char="•"/>
            </a:pPr>
            <a:r>
              <a:rPr sz="1400" b="0" i="0">
                <a:solidFill>
                  <a:srgbClr val="1F2A36"/>
                </a:solidFill>
                <a:latin typeface="Calibri"/>
              </a:rPr>
              <a:t>Results are filtered exactly with ALEAPP's own glob; Hansken's name match is token-based and returns more.</a:t>
            </a:r>
          </a:p>
          <a:p>
            <a:pPr algn="l" marL="228600" indent="-182880">
              <a:spcAft>
                <a:spcPts val="600"/>
              </a:spcAft>
              <a:buChar char="•"/>
            </a:pPr>
            <a:r>
              <a:rPr sz="1400" b="0" i="0">
                <a:solidFill>
                  <a:srgbClr val="1F2A36"/>
                </a:solidFill>
                <a:latin typeface="Calibri"/>
              </a:rPr>
              <a:t>The anchor is matched directly: a search never returns it.</a:t>
            </a:r>
          </a:p>
        </p:txBody>
      </p:sp>
      <p:sp>
        <p:nvSpPr>
          <p:cNvPr id="6" name="Rounded Rectangle 5"/>
          <p:cNvSpPr/>
          <p:nvPr/>
        </p:nvSpPr>
        <p:spPr>
          <a:xfrm>
            <a:off x="8229600" y="1783080"/>
            <a:ext cx="3429000" cy="4343400"/>
          </a:xfrm>
          <a:prstGeom prst="roundRect">
            <a:avLst>
              <a:gd name="adj" fmla="val 8000"/>
            </a:avLst>
          </a:prstGeom>
          <a:solidFill>
            <a:srgbClr val="1F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0" y="1965960"/>
            <a:ext cx="2926080" cy="457200"/>
          </a:xfrm>
          <a:prstGeom prst="rect">
            <a:avLst/>
          </a:prstGeom>
          <a:noFill/>
        </p:spPr>
        <p:txBody>
          <a:bodyPr wrap="square" anchor="t" lIns="0" rIns="0" tIns="0" bIns="0">
            <a:spAutoFit/>
          </a:bodyPr>
          <a:lstStyle/>
          <a:p>
            <a:pPr algn="l">
              <a:spcAft>
                <a:spcPts val="600"/>
              </a:spcAft>
            </a:pPr>
            <a:r>
              <a:rPr sz="2000" b="1" i="0">
                <a:solidFill>
                  <a:srgbClr val="F2A900"/>
                </a:solidFill>
                <a:latin typeface="Cambria"/>
              </a:rPr>
              <a:t>Search scope</a:t>
            </a:r>
          </a:p>
        </p:txBody>
      </p:sp>
      <p:sp>
        <p:nvSpPr>
          <p:cNvPr id="8" name="TextBox 7"/>
          <p:cNvSpPr txBox="1"/>
          <p:nvPr/>
        </p:nvSpPr>
        <p:spPr>
          <a:xfrm>
            <a:off x="8503920" y="2514600"/>
            <a:ext cx="2926080" cy="1737360"/>
          </a:xfrm>
          <a:prstGeom prst="rect">
            <a:avLst/>
          </a:prstGeom>
          <a:noFill/>
        </p:spPr>
        <p:txBody>
          <a:bodyPr wrap="square" anchor="t" lIns="0" rIns="0" tIns="0" bIns="0">
            <a:spAutoFit/>
          </a:bodyPr>
          <a:lstStyle/>
          <a:p>
            <a:pPr algn="l">
              <a:spcAft>
                <a:spcPts val="600"/>
              </a:spcAft>
            </a:pPr>
            <a:r>
              <a:rPr sz="1400" b="0" i="0">
                <a:solidFill>
                  <a:srgbClr val="FFFFFF"/>
                </a:solidFill>
                <a:latin typeface="Calibri"/>
              </a:rPr>
              <a:t>Globs next to the anchor (sidecars, cache entries) stay in the anchor's folder; globs elsewhere search the whole image.</a:t>
            </a:r>
          </a:p>
        </p:txBody>
      </p:sp>
      <p:sp>
        <p:nvSpPr>
          <p:cNvPr id="9" name="TextBox 8"/>
          <p:cNvSpPr txBox="1"/>
          <p:nvPr/>
        </p:nvSpPr>
        <p:spPr>
          <a:xfrm>
            <a:off x="8503920" y="4160520"/>
            <a:ext cx="2926080" cy="822960"/>
          </a:xfrm>
          <a:prstGeom prst="rect">
            <a:avLst/>
          </a:prstGeom>
          <a:noFill/>
        </p:spPr>
        <p:txBody>
          <a:bodyPr wrap="square" anchor="t" lIns="0" rIns="0" tIns="0" bIns="0">
            <a:spAutoFit/>
          </a:bodyPr>
          <a:lstStyle/>
          <a:p>
            <a:pPr algn="l">
              <a:spcAft>
                <a:spcPts val="600"/>
              </a:spcAft>
            </a:pPr>
            <a:r>
              <a:rPr sz="3600" b="1" i="0">
                <a:solidFill>
                  <a:srgbClr val="F2A900"/>
                </a:solidFill>
                <a:latin typeface="Cambria"/>
              </a:rPr>
              <a:t>1,722 → 0</a:t>
            </a:r>
          </a:p>
        </p:txBody>
      </p:sp>
      <p:sp>
        <p:nvSpPr>
          <p:cNvPr id="10" name="TextBox 9"/>
          <p:cNvSpPr txBox="1"/>
          <p:nvPr/>
        </p:nvSpPr>
        <p:spPr>
          <a:xfrm>
            <a:off x="8503920" y="4937760"/>
            <a:ext cx="2926080" cy="1005840"/>
          </a:xfrm>
          <a:prstGeom prst="rect">
            <a:avLst/>
          </a:prstGeom>
          <a:noFill/>
        </p:spPr>
        <p:txBody>
          <a:bodyPr wrap="square" anchor="t" lIns="0" rIns="0" tIns="0" bIns="0">
            <a:spAutoFit/>
          </a:bodyPr>
          <a:lstStyle/>
          <a:p>
            <a:pPr algn="l">
              <a:spcAft>
                <a:spcPts val="600"/>
              </a:spcAft>
            </a:pPr>
            <a:r>
              <a:rPr sz="1300" b="0" i="0">
                <a:solidFill>
                  <a:srgbClr val="E8EEF3"/>
                </a:solidFill>
                <a:latin typeface="Calibri"/>
              </a:rPr>
              <a:t>duplicate stagings on the example tree, with no file lost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600" b="1" i="0">
                <a:solidFill>
                  <a:srgbClr val="1F2A36"/>
                </a:solidFill>
                <a:latin typeface="Cambria"/>
              </a:rPr>
              <a:t>What ends up in Hansken</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i="1">
                <a:solidFill>
                  <a:srgbClr val="6B7A8A"/>
                </a:solidFill>
                <a:latin typeface="Calibri"/>
              </a:rPr>
              <a:t>Child traces of the anchor trace</a:t>
            </a:r>
          </a:p>
        </p:txBody>
      </p:sp>
      <p:sp>
        <p:nvSpPr>
          <p:cNvPr id="4" name="Rounded Rectangle 3"/>
          <p:cNvSpPr/>
          <p:nvPr/>
        </p:nvSpPr>
        <p:spPr>
          <a:xfrm>
            <a:off x="548640" y="1783080"/>
            <a:ext cx="5486400" cy="429768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4937760" cy="457200"/>
          </a:xfrm>
          <a:prstGeom prst="rect">
            <a:avLst/>
          </a:prstGeom>
          <a:noFill/>
        </p:spPr>
        <p:txBody>
          <a:bodyPr wrap="square" anchor="t" lIns="0" rIns="0" tIns="0" bIns="0">
            <a:spAutoFit/>
          </a:bodyPr>
          <a:lstStyle/>
          <a:p>
            <a:pPr algn="l">
              <a:spcAft>
                <a:spcPts val="600"/>
              </a:spcAft>
            </a:pPr>
            <a:r>
              <a:rPr sz="2000" b="1" i="0">
                <a:solidFill>
                  <a:srgbClr val="1F2A36"/>
                </a:solidFill>
                <a:latin typeface="Cambria"/>
              </a:rPr>
              <a:t>Artifact traces from LAVA</a:t>
            </a:r>
          </a:p>
        </p:txBody>
      </p:sp>
      <p:sp>
        <p:nvSpPr>
          <p:cNvPr id="6" name="Oval 5"/>
          <p:cNvSpPr/>
          <p:nvPr/>
        </p:nvSpPr>
        <p:spPr>
          <a:xfrm>
            <a:off x="822960" y="2651760"/>
            <a:ext cx="256032" cy="256032"/>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F2A36"/>
                </a:solidFill>
                <a:latin typeface="Calibri"/>
              </a:rPr>
              <a:t/>
            </a:r>
          </a:p>
        </p:txBody>
      </p:sp>
      <p:sp>
        <p:nvSpPr>
          <p:cNvPr id="7" name="TextBox 6"/>
          <p:cNvSpPr txBox="1"/>
          <p:nvPr/>
        </p:nvSpPr>
        <p:spPr>
          <a:xfrm>
            <a:off x="1188720" y="2606040"/>
            <a:ext cx="4389120" cy="411480"/>
          </a:xfrm>
          <a:prstGeom prst="rect">
            <a:avLst/>
          </a:prstGeom>
          <a:noFill/>
        </p:spPr>
        <p:txBody>
          <a:bodyPr wrap="square" anchor="t" lIns="0" rIns="0" tIns="0" bIns="0">
            <a:spAutoFit/>
          </a:bodyPr>
          <a:lstStyle/>
          <a:p>
            <a:pPr algn="l">
              <a:spcAft>
                <a:spcPts val="600"/>
              </a:spcAft>
            </a:pPr>
            <a:r>
              <a:rPr sz="1500" b="1" i="0">
                <a:solidFill>
                  <a:srgbClr val="1F2A36"/>
                </a:solidFill>
                <a:latin typeface="Calibri"/>
              </a:rPr>
              <a:t>gmm_storage.db</a:t>
            </a:r>
          </a:p>
        </p:txBody>
      </p:sp>
      <p:sp>
        <p:nvSpPr>
          <p:cNvPr id="8" name="Oval 7"/>
          <p:cNvSpPr/>
          <p:nvPr/>
        </p:nvSpPr>
        <p:spPr>
          <a:xfrm>
            <a:off x="1234440" y="3200400"/>
            <a:ext cx="256032" cy="256032"/>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F2A36"/>
                </a:solidFill>
                <a:latin typeface="Calibri"/>
              </a:rPr>
              <a:t/>
            </a:r>
          </a:p>
        </p:txBody>
      </p:sp>
      <p:sp>
        <p:nvSpPr>
          <p:cNvPr id="9" name="TextBox 8"/>
          <p:cNvSpPr txBox="1"/>
          <p:nvPr/>
        </p:nvSpPr>
        <p:spPr>
          <a:xfrm>
            <a:off x="1600200" y="3154680"/>
            <a:ext cx="4389120" cy="411480"/>
          </a:xfrm>
          <a:prstGeom prst="rect">
            <a:avLst/>
          </a:prstGeom>
          <a:noFill/>
        </p:spPr>
        <p:txBody>
          <a:bodyPr wrap="square" anchor="t" lIns="0" rIns="0" tIns="0" bIns="0">
            <a:spAutoFit/>
          </a:bodyPr>
          <a:lstStyle/>
          <a:p>
            <a:pPr algn="l">
              <a:spcAft>
                <a:spcPts val="600"/>
              </a:spcAft>
            </a:pPr>
            <a:r>
              <a:rPr sz="1500" b="0" i="0">
                <a:solidFill>
                  <a:srgbClr val="1F2A36"/>
                </a:solidFill>
                <a:latin typeface="Calibri"/>
              </a:rPr>
              <a:t>GEO Location  (category)</a:t>
            </a:r>
          </a:p>
        </p:txBody>
      </p:sp>
      <p:sp>
        <p:nvSpPr>
          <p:cNvPr id="10" name="Oval 9"/>
          <p:cNvSpPr/>
          <p:nvPr/>
        </p:nvSpPr>
        <p:spPr>
          <a:xfrm>
            <a:off x="1645920" y="3749039"/>
            <a:ext cx="256032" cy="256032"/>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F2A36"/>
                </a:solidFill>
                <a:latin typeface="Calibri"/>
              </a:rPr>
              <a:t/>
            </a:r>
          </a:p>
        </p:txBody>
      </p:sp>
      <p:sp>
        <p:nvSpPr>
          <p:cNvPr id="11" name="TextBox 10"/>
          <p:cNvSpPr txBox="1"/>
          <p:nvPr/>
        </p:nvSpPr>
        <p:spPr>
          <a:xfrm>
            <a:off x="2011680" y="3703320"/>
            <a:ext cx="4389120" cy="411480"/>
          </a:xfrm>
          <a:prstGeom prst="rect">
            <a:avLst/>
          </a:prstGeom>
          <a:noFill/>
        </p:spPr>
        <p:txBody>
          <a:bodyPr wrap="square" anchor="t" lIns="0" rIns="0" tIns="0" bIns="0">
            <a:spAutoFit/>
          </a:bodyPr>
          <a:lstStyle/>
          <a:p>
            <a:pPr algn="l">
              <a:spcAft>
                <a:spcPts val="600"/>
              </a:spcAft>
            </a:pPr>
            <a:r>
              <a:rPr sz="1500" b="0" i="0">
                <a:solidFill>
                  <a:srgbClr val="1F2A36"/>
                </a:solidFill>
                <a:latin typeface="Calibri"/>
              </a:rPr>
              <a:t>Google Maps Directions  (artifact)</a:t>
            </a:r>
          </a:p>
        </p:txBody>
      </p:sp>
      <p:sp>
        <p:nvSpPr>
          <p:cNvPr id="12" name="Oval 11"/>
          <p:cNvSpPr/>
          <p:nvPr/>
        </p:nvSpPr>
        <p:spPr>
          <a:xfrm>
            <a:off x="2057400" y="4297680"/>
            <a:ext cx="256032" cy="256032"/>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1F2A36"/>
                </a:solidFill>
                <a:latin typeface="Calibri"/>
              </a:rPr>
              <a:t/>
            </a:r>
          </a:p>
        </p:txBody>
      </p:sp>
      <p:sp>
        <p:nvSpPr>
          <p:cNvPr id="13" name="TextBox 12"/>
          <p:cNvSpPr txBox="1"/>
          <p:nvPr/>
        </p:nvSpPr>
        <p:spPr>
          <a:xfrm>
            <a:off x="2423160" y="4251960"/>
            <a:ext cx="4389120" cy="411480"/>
          </a:xfrm>
          <a:prstGeom prst="rect">
            <a:avLst/>
          </a:prstGeom>
          <a:noFill/>
        </p:spPr>
        <p:txBody>
          <a:bodyPr wrap="square" anchor="t" lIns="0" rIns="0" tIns="0" bIns="0">
            <a:spAutoFit/>
          </a:bodyPr>
          <a:lstStyle/>
          <a:p>
            <a:pPr algn="l">
              <a:spcAft>
                <a:spcPts val="600"/>
              </a:spcAft>
            </a:pPr>
            <a:r>
              <a:rPr sz="1500" b="0" i="0">
                <a:solidFill>
                  <a:srgbClr val="1F2A36"/>
                </a:solidFill>
                <a:latin typeface="Calibri"/>
              </a:rPr>
              <a:t>raw data: TSV of the LAVA table</a:t>
            </a:r>
          </a:p>
        </p:txBody>
      </p:sp>
      <p:sp>
        <p:nvSpPr>
          <p:cNvPr id="14" name="TextBox 13"/>
          <p:cNvSpPr txBox="1"/>
          <p:nvPr/>
        </p:nvSpPr>
        <p:spPr>
          <a:xfrm>
            <a:off x="822960" y="4937760"/>
            <a:ext cx="4937760" cy="1005840"/>
          </a:xfrm>
          <a:prstGeom prst="rect">
            <a:avLst/>
          </a:prstGeom>
          <a:noFill/>
        </p:spPr>
        <p:txBody>
          <a:bodyPr wrap="square" anchor="t" lIns="0" rIns="0" tIns="0" bIns="0">
            <a:spAutoFit/>
          </a:bodyPr>
          <a:lstStyle/>
          <a:p>
            <a:pPr algn="l">
              <a:spcAft>
                <a:spcPts val="600"/>
              </a:spcAft>
            </a:pPr>
            <a:r>
              <a:rPr sz="1300" b="0" i="0">
                <a:solidFill>
                  <a:srgbClr val="3D4B5C"/>
                </a:solidFill>
                <a:latin typeface="Calibri"/>
              </a:rPr>
              <a:t>LAVA (_lava_data.lava + _lava_artifacts.db) carries the rows plus typed columns; _TSV Exports are no longer used.</a:t>
            </a:r>
          </a:p>
        </p:txBody>
      </p:sp>
      <p:sp>
        <p:nvSpPr>
          <p:cNvPr id="15" name="Rounded Rectangle 14"/>
          <p:cNvSpPr/>
          <p:nvPr/>
        </p:nvSpPr>
        <p:spPr>
          <a:xfrm>
            <a:off x="6400800" y="1783080"/>
            <a:ext cx="5257800" cy="4297680"/>
          </a:xfrm>
          <a:prstGeom prst="roundRect">
            <a:avLst>
              <a:gd name="adj" fmla="val 8000"/>
            </a:avLst>
          </a:prstGeom>
          <a:solidFill>
            <a:srgbClr val="1F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965960"/>
            <a:ext cx="4754880" cy="457200"/>
          </a:xfrm>
          <a:prstGeom prst="rect">
            <a:avLst/>
          </a:prstGeom>
          <a:noFill/>
        </p:spPr>
        <p:txBody>
          <a:bodyPr wrap="square" anchor="t" lIns="0" rIns="0" tIns="0" bIns="0">
            <a:spAutoFit/>
          </a:bodyPr>
          <a:lstStyle/>
          <a:p>
            <a:pPr algn="l">
              <a:spcAft>
                <a:spcPts val="600"/>
              </a:spcAft>
            </a:pPr>
            <a:r>
              <a:rPr sz="2000" b="1" i="0">
                <a:solidFill>
                  <a:srgbClr val="F2A900"/>
                </a:solidFill>
                <a:latin typeface="Cambria"/>
              </a:rPr>
              <a:t>ALEAPP report</a:t>
            </a:r>
          </a:p>
        </p:txBody>
      </p:sp>
      <p:sp>
        <p:nvSpPr>
          <p:cNvPr id="17" name="TextBox 16"/>
          <p:cNvSpPr txBox="1"/>
          <p:nvPr/>
        </p:nvSpPr>
        <p:spPr>
          <a:xfrm>
            <a:off x="6675120" y="2560320"/>
            <a:ext cx="4754880" cy="3383280"/>
          </a:xfrm>
          <a:prstGeom prst="rect">
            <a:avLst/>
          </a:prstGeom>
          <a:noFill/>
        </p:spPr>
        <p:txBody>
          <a:bodyPr wrap="square" anchor="t" lIns="0" rIns="0" tIns="0" bIns="0">
            <a:spAutoFit/>
          </a:bodyPr>
          <a:lstStyle/>
          <a:p>
            <a:pPr algn="l" marL="228600" indent="-182880">
              <a:spcAft>
                <a:spcPts val="600"/>
              </a:spcAft>
              <a:buChar char="•"/>
            </a:pPr>
            <a:r>
              <a:rPr sz="1400" b="0" i="0">
                <a:solidFill>
                  <a:srgbClr val="FFFFFF"/>
                </a:solidFill>
                <a:latin typeface="Calibri"/>
              </a:rPr>
              <a:t>Zip of the whole ALEAPP output folder: HTML, LAVA, TSV</a:t>
            </a:r>
          </a:p>
          <a:p>
            <a:pPr algn="l" marL="228600" indent="-182880">
              <a:spcAft>
                <a:spcPts val="600"/>
              </a:spcAft>
              <a:buChar char="•"/>
            </a:pPr>
            <a:r>
              <a:rPr sz="1400" b="0" i="0">
                <a:solidFill>
                  <a:srgbClr val="FFFFFF"/>
                </a:solidFill>
                <a:latin typeface="Calibri"/>
              </a:rPr>
              <a:t>Stored, not compressed (compression level 0)</a:t>
            </a:r>
          </a:p>
          <a:p>
            <a:pPr algn="l" marL="228600" indent="-182880">
              <a:spcAft>
                <a:spcPts val="600"/>
              </a:spcAft>
              <a:buChar char="•"/>
            </a:pPr>
            <a:r>
              <a:rPr sz="1400" b="0" i="0">
                <a:solidFill>
                  <a:srgbClr val="FFFFFF"/>
                </a:solidFill>
                <a:latin typeface="Calibri"/>
              </a:rPr>
              <a:t>Keeps ALEAPP's data/ copies of the evidence</a:t>
            </a:r>
          </a:p>
          <a:p>
            <a:pPr algn="l" marL="228600" indent="-182880">
              <a:spcAft>
                <a:spcPts val="600"/>
              </a:spcAft>
              <a:buChar char="•"/>
            </a:pPr>
            <a:r>
              <a:rPr sz="1400" b="0" i="0">
                <a:solidFill>
                  <a:srgbClr val="FFFFFF"/>
                </a:solidFill>
                <a:latin typeface="Calibri"/>
              </a:rPr>
              <a:t>Loop guard: traces inside an ALEAPP report never start a new run</a:t>
            </a:r>
          </a:p>
          <a:p>
            <a:pPr algn="l" marL="228600" indent="-182880">
              <a:spcAft>
                <a:spcPts val="600"/>
              </a:spcAft>
              <a:buChar char="•"/>
            </a:pPr>
            <a:r>
              <a:rPr sz="1400" b="0" i="0">
                <a:solidFill>
                  <a:srgbClr val="FFFFFF"/>
                </a:solidFill>
                <a:latin typeface="Calibri"/>
              </a:rPr>
              <a:t>TSV files may be left out later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600" b="1" i="0">
                <a:solidFill>
                  <a:srgbClr val="1F2A36"/>
                </a:solidFill>
                <a:latin typeface="Cambria"/>
              </a:rPr>
              <a:t>Timestamps and locations in LAVA</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i="1">
                <a:solidFill>
                  <a:srgbClr val="6B7A8A"/>
                </a:solidFill>
                <a:latin typeface="Calibri"/>
              </a:rPr>
              <a:t>Enough for timestamped events and geolocations, with rules of our own</a:t>
            </a:r>
          </a:p>
        </p:txBody>
      </p:sp>
      <p:sp>
        <p:nvSpPr>
          <p:cNvPr id="4" name="Rounded Rectangle 3"/>
          <p:cNvSpPr/>
          <p:nvPr/>
        </p:nvSpPr>
        <p:spPr>
          <a:xfrm>
            <a:off x="548640" y="1783080"/>
            <a:ext cx="5394960" cy="434340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22959" y="2011680"/>
            <a:ext cx="548640" cy="54864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1F2A36"/>
                </a:solidFill>
                <a:latin typeface="Calibri"/>
              </a:rPr>
              <a:t>E</a:t>
            </a:r>
          </a:p>
        </p:txBody>
      </p:sp>
      <p:sp>
        <p:nvSpPr>
          <p:cNvPr id="6" name="TextBox 5"/>
          <p:cNvSpPr txBox="1"/>
          <p:nvPr/>
        </p:nvSpPr>
        <p:spPr>
          <a:xfrm>
            <a:off x="1554480" y="2075688"/>
            <a:ext cx="4114800" cy="457200"/>
          </a:xfrm>
          <a:prstGeom prst="rect">
            <a:avLst/>
          </a:prstGeom>
          <a:noFill/>
        </p:spPr>
        <p:txBody>
          <a:bodyPr wrap="square" anchor="t" lIns="0" rIns="0" tIns="0" bIns="0">
            <a:spAutoFit/>
          </a:bodyPr>
          <a:lstStyle/>
          <a:p>
            <a:pPr algn="l">
              <a:spcAft>
                <a:spcPts val="600"/>
              </a:spcAft>
            </a:pPr>
            <a:r>
              <a:rPr sz="2200" b="1" i="0">
                <a:solidFill>
                  <a:srgbClr val="1F2A36"/>
                </a:solidFill>
                <a:latin typeface="Cambria"/>
              </a:rPr>
              <a:t>Events</a:t>
            </a:r>
          </a:p>
        </p:txBody>
      </p:sp>
      <p:sp>
        <p:nvSpPr>
          <p:cNvPr id="7" name="TextBox 6"/>
          <p:cNvSpPr txBox="1"/>
          <p:nvPr/>
        </p:nvSpPr>
        <p:spPr>
          <a:xfrm>
            <a:off x="822959" y="2788920"/>
            <a:ext cx="4846320" cy="3200400"/>
          </a:xfrm>
          <a:prstGeom prst="rect">
            <a:avLst/>
          </a:prstGeom>
          <a:noFill/>
        </p:spPr>
        <p:txBody>
          <a:bodyPr wrap="square" anchor="t" lIns="0" rIns="0" tIns="0" bIns="0">
            <a:spAutoFit/>
          </a:bodyPr>
          <a:lstStyle/>
          <a:p>
            <a:pPr algn="l" marL="228600" indent="-182880">
              <a:spcAft>
                <a:spcPts val="900"/>
              </a:spcAft>
              <a:buChar char="•"/>
            </a:pPr>
            <a:r>
              <a:rPr sz="1400" b="0" i="0">
                <a:solidFill>
                  <a:srgbClr val="1F2A36"/>
                </a:solidFill>
                <a:latin typeface="Calibri"/>
              </a:rPr>
              <a:t>LAVA: Typed datetime/date columns: 413 of 517 module files</a:t>
            </a:r>
          </a:p>
          <a:p>
            <a:pPr algn="l" marL="228600" indent="-182880">
              <a:spcAft>
                <a:spcPts val="900"/>
              </a:spcAft>
              <a:buChar char="•"/>
            </a:pPr>
            <a:r>
              <a:rPr sz="1400" b="0" i="0">
                <a:solidFill>
                  <a:srgbClr val="1F2A36"/>
                </a:solidFill>
                <a:latin typeface="Calibri"/>
              </a:rPr>
              <a:t>LAVA: Stored as UTC epoch seconds</a:t>
            </a:r>
          </a:p>
          <a:p>
            <a:pPr algn="l" marL="228600" indent="-182880">
              <a:spcAft>
                <a:spcPts val="900"/>
              </a:spcAft>
              <a:buChar char="•"/>
            </a:pPr>
            <a:r>
              <a:rPr sz="1400" b="0" i="0">
                <a:solidFill>
                  <a:srgbClr val="3D4B5C"/>
                </a:solidFill>
                <a:latin typeface="Calibri"/>
              </a:rPr>
              <a:t>Plugin: We choose the event time: first column if datetime, else "Timestamp", else first datetime column</a:t>
            </a:r>
          </a:p>
          <a:p>
            <a:pPr algn="l" marL="228600" indent="-182880">
              <a:spcAft>
                <a:spcPts val="900"/>
              </a:spcAft>
              <a:buChar char="•"/>
            </a:pPr>
            <a:r>
              <a:rPr sz="1400" b="0" i="0">
                <a:solidFill>
                  <a:srgbClr val="3D4B5C"/>
                </a:solidFill>
                <a:latin typeface="Calibri"/>
              </a:rPr>
              <a:t>Plugin: Naive module values are taken as UTC — check per module</a:t>
            </a:r>
          </a:p>
          <a:p>
            <a:pPr algn="l" marL="228600" indent="-182880">
              <a:spcAft>
                <a:spcPts val="900"/>
              </a:spcAft>
              <a:buChar char="•"/>
            </a:pPr>
            <a:r>
              <a:rPr sz="1400" b="0" i="0">
                <a:solidFill>
                  <a:srgbClr val="3D4B5C"/>
                </a:solidFill>
                <a:latin typeface="Calibri"/>
              </a:rPr>
              <a:t>Plugin: Whole seconds only</a:t>
            </a:r>
          </a:p>
        </p:txBody>
      </p:sp>
      <p:sp>
        <p:nvSpPr>
          <p:cNvPr id="8" name="Rounded Rectangle 7"/>
          <p:cNvSpPr/>
          <p:nvPr/>
        </p:nvSpPr>
        <p:spPr>
          <a:xfrm>
            <a:off x="6217920" y="1783080"/>
            <a:ext cx="5394960" cy="434340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92240" y="2011680"/>
            <a:ext cx="548640" cy="548640"/>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G</a:t>
            </a:r>
          </a:p>
        </p:txBody>
      </p:sp>
      <p:sp>
        <p:nvSpPr>
          <p:cNvPr id="10" name="TextBox 9"/>
          <p:cNvSpPr txBox="1"/>
          <p:nvPr/>
        </p:nvSpPr>
        <p:spPr>
          <a:xfrm>
            <a:off x="7223760" y="2075688"/>
            <a:ext cx="4114800" cy="457200"/>
          </a:xfrm>
          <a:prstGeom prst="rect">
            <a:avLst/>
          </a:prstGeom>
          <a:noFill/>
        </p:spPr>
        <p:txBody>
          <a:bodyPr wrap="square" anchor="t" lIns="0" rIns="0" tIns="0" bIns="0">
            <a:spAutoFit/>
          </a:bodyPr>
          <a:lstStyle/>
          <a:p>
            <a:pPr algn="l">
              <a:spcAft>
                <a:spcPts val="600"/>
              </a:spcAft>
            </a:pPr>
            <a:r>
              <a:rPr sz="2200" b="1" i="0">
                <a:solidFill>
                  <a:srgbClr val="1F2A36"/>
                </a:solidFill>
                <a:latin typeface="Cambria"/>
              </a:rPr>
              <a:t>Geolocations</a:t>
            </a:r>
          </a:p>
        </p:txBody>
      </p:sp>
      <p:sp>
        <p:nvSpPr>
          <p:cNvPr id="11" name="TextBox 10"/>
          <p:cNvSpPr txBox="1"/>
          <p:nvPr/>
        </p:nvSpPr>
        <p:spPr>
          <a:xfrm>
            <a:off x="6492240" y="2788920"/>
            <a:ext cx="4846320" cy="3200400"/>
          </a:xfrm>
          <a:prstGeom prst="rect">
            <a:avLst/>
          </a:prstGeom>
          <a:noFill/>
        </p:spPr>
        <p:txBody>
          <a:bodyPr wrap="square" anchor="t" lIns="0" rIns="0" tIns="0" bIns="0">
            <a:spAutoFit/>
          </a:bodyPr>
          <a:lstStyle/>
          <a:p>
            <a:pPr algn="l" marL="228600" indent="-182880">
              <a:spcAft>
                <a:spcPts val="900"/>
              </a:spcAft>
              <a:buChar char="•"/>
            </a:pPr>
            <a:r>
              <a:rPr sz="1400" b="0" i="0">
                <a:solidFill>
                  <a:srgbClr val="1F2A36"/>
                </a:solidFill>
                <a:latin typeface="Calibri"/>
              </a:rPr>
              <a:t>LAVA: Latitude / Longitude text columns: 69 module files</a:t>
            </a:r>
          </a:p>
          <a:p>
            <a:pPr algn="l" marL="228600" indent="-182880">
              <a:spcAft>
                <a:spcPts val="900"/>
              </a:spcAft>
              <a:buChar char="•"/>
            </a:pPr>
            <a:r>
              <a:rPr sz="1400" b="0" i="0">
                <a:solidFill>
                  <a:srgbClr val="1F2A36"/>
                </a:solidFill>
                <a:latin typeface="Calibri"/>
              </a:rPr>
              <a:t>LAVA: Decimal degrees; E7 values converted by the modules</a:t>
            </a:r>
          </a:p>
          <a:p>
            <a:pPr algn="l" marL="228600" indent="-182880">
              <a:spcAft>
                <a:spcPts val="900"/>
              </a:spcAft>
              <a:buChar char="•"/>
            </a:pPr>
            <a:r>
              <a:rPr sz="1400" b="0" i="0">
                <a:solidFill>
                  <a:srgbClr val="1F2A36"/>
                </a:solidFill>
                <a:latin typeface="Calibri"/>
              </a:rPr>
              <a:t>LAVA: 115 of 120 pairs valid on the example</a:t>
            </a:r>
          </a:p>
          <a:p>
            <a:pPr algn="l" marL="228600" indent="-182880">
              <a:spcAft>
                <a:spcPts val="900"/>
              </a:spcAft>
              <a:buChar char="•"/>
            </a:pPr>
            <a:r>
              <a:rPr sz="1400" b="0" i="0">
                <a:solidFill>
                  <a:srgbClr val="3D4B5C"/>
                </a:solidFill>
                <a:latin typeface="Calibri"/>
              </a:rPr>
              <a:t>Plugin: We pair &lt;prefix&gt;Latitude with &lt;prefix&gt;Longitude and validate ranges</a:t>
            </a:r>
          </a:p>
          <a:p>
            <a:pPr algn="l" marL="228600" indent="-182880">
              <a:spcAft>
                <a:spcPts val="900"/>
              </a:spcAft>
              <a:buChar char="•"/>
            </a:pPr>
            <a:r>
              <a:rPr sz="1400" b="0" i="0">
                <a:solidFill>
                  <a:srgbClr val="3D4B5C"/>
                </a:solidFill>
                <a:latin typeface="Calibri"/>
              </a:rPr>
              <a:t>Plugin: Drop empty, 0,0 and garbage values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600" b="1" i="0">
                <a:solidFill>
                  <a:srgbClr val="1F2A36"/>
                </a:solidFill>
                <a:latin typeface="Cambria"/>
              </a:rPr>
              <a:t>How it is tested and built</a:t>
            </a:r>
          </a:p>
        </p:txBody>
      </p:sp>
      <p:sp>
        <p:nvSpPr>
          <p:cNvPr id="3" name="TextBox 2"/>
          <p:cNvSpPr txBox="1"/>
          <p:nvPr/>
        </p:nvSpPr>
        <p:spPr>
          <a:xfrm>
            <a:off x="548640" y="1097280"/>
            <a:ext cx="11064240" cy="457200"/>
          </a:xfrm>
          <a:prstGeom prst="rect">
            <a:avLst/>
          </a:prstGeom>
          <a:noFill/>
        </p:spPr>
        <p:txBody>
          <a:bodyPr wrap="square" anchor="t" lIns="0" rIns="0" tIns="0" bIns="0">
            <a:spAutoFit/>
          </a:bodyPr>
          <a:lstStyle/>
          <a:p>
            <a:pPr algn="l">
              <a:spcAft>
                <a:spcPts val="600"/>
              </a:spcAft>
            </a:pPr>
            <a:r>
              <a:rPr sz="1600" b="0" i="1">
                <a:solidFill>
                  <a:srgbClr val="6B7A8A"/>
                </a:solidFill>
                <a:latin typeface="Calibri"/>
              </a:rPr>
              <a:t>Issue → branch → pull request → squash merge (docs/Workflow.md)</a:t>
            </a:r>
          </a:p>
        </p:txBody>
      </p:sp>
      <p:sp>
        <p:nvSpPr>
          <p:cNvPr id="4" name="Rounded Rectangle 3"/>
          <p:cNvSpPr/>
          <p:nvPr/>
        </p:nvSpPr>
        <p:spPr>
          <a:xfrm>
            <a:off x="548640" y="1783080"/>
            <a:ext cx="6675120" cy="118872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920240"/>
            <a:ext cx="1188720" cy="914400"/>
          </a:xfrm>
          <a:prstGeom prst="rect">
            <a:avLst/>
          </a:prstGeom>
          <a:noFill/>
        </p:spPr>
        <p:txBody>
          <a:bodyPr wrap="square" anchor="ctr" lIns="0" rIns="0" tIns="0" bIns="0">
            <a:spAutoFit/>
          </a:bodyPr>
          <a:lstStyle/>
          <a:p>
            <a:pPr algn="l">
              <a:spcAft>
                <a:spcPts val="600"/>
              </a:spcAft>
            </a:pPr>
            <a:r>
              <a:rPr sz="3600" b="1" i="0">
                <a:solidFill>
                  <a:srgbClr val="F2A900"/>
                </a:solidFill>
                <a:latin typeface="Cambria"/>
              </a:rPr>
              <a:t>79</a:t>
            </a:r>
          </a:p>
        </p:txBody>
      </p:sp>
      <p:sp>
        <p:nvSpPr>
          <p:cNvPr id="6" name="TextBox 5"/>
          <p:cNvSpPr txBox="1"/>
          <p:nvPr/>
        </p:nvSpPr>
        <p:spPr>
          <a:xfrm>
            <a:off x="2011680" y="1947672"/>
            <a:ext cx="5029200" cy="365760"/>
          </a:xfrm>
          <a:prstGeom prst="rect">
            <a:avLst/>
          </a:prstGeom>
          <a:noFill/>
        </p:spPr>
        <p:txBody>
          <a:bodyPr wrap="square" anchor="t" lIns="0" rIns="0" tIns="0" bIns="0">
            <a:spAutoFit/>
          </a:bodyPr>
          <a:lstStyle/>
          <a:p>
            <a:pPr algn="l">
              <a:spcAft>
                <a:spcPts val="600"/>
              </a:spcAft>
            </a:pPr>
            <a:r>
              <a:rPr sz="1700" b="1" i="0">
                <a:solidFill>
                  <a:srgbClr val="1F2A36"/>
                </a:solidFill>
                <a:latin typeface="Calibri"/>
              </a:rPr>
              <a:t>unit tests</a:t>
            </a:r>
          </a:p>
        </p:txBody>
      </p:sp>
      <p:sp>
        <p:nvSpPr>
          <p:cNvPr id="7" name="TextBox 6"/>
          <p:cNvSpPr txBox="1"/>
          <p:nvPr/>
        </p:nvSpPr>
        <p:spPr>
          <a:xfrm>
            <a:off x="2011680" y="2331720"/>
            <a:ext cx="5029200" cy="594360"/>
          </a:xfrm>
          <a:prstGeom prst="rect">
            <a:avLst/>
          </a:prstGeom>
          <a:noFill/>
        </p:spPr>
        <p:txBody>
          <a:bodyPr wrap="square" anchor="t" lIns="0" rIns="0" tIns="0" bIns="0">
            <a:spAutoFit/>
          </a:bodyPr>
          <a:lstStyle/>
          <a:p>
            <a:pPr algn="l">
              <a:spcAft>
                <a:spcPts val="600"/>
              </a:spcAft>
            </a:pPr>
            <a:r>
              <a:rPr sz="1300" b="0" i="0">
                <a:solidFill>
                  <a:srgbClr val="3D4B5C"/>
                </a:solidFill>
                <a:latin typeface="Calibri"/>
              </a:rPr>
              <a:t>tox -e unit: anchors, Stager, RPC, launcher in the ALEAPP venv, report zip</a:t>
            </a:r>
          </a:p>
        </p:txBody>
      </p:sp>
      <p:sp>
        <p:nvSpPr>
          <p:cNvPr id="8" name="Rounded Rectangle 7"/>
          <p:cNvSpPr/>
          <p:nvPr/>
        </p:nvSpPr>
        <p:spPr>
          <a:xfrm>
            <a:off x="548640" y="3154680"/>
            <a:ext cx="6675120" cy="118872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291840"/>
            <a:ext cx="1188720" cy="914400"/>
          </a:xfrm>
          <a:prstGeom prst="rect">
            <a:avLst/>
          </a:prstGeom>
          <a:noFill/>
        </p:spPr>
        <p:txBody>
          <a:bodyPr wrap="square" anchor="ctr" lIns="0" rIns="0" tIns="0" bIns="0">
            <a:spAutoFit/>
          </a:bodyPr>
          <a:lstStyle/>
          <a:p>
            <a:pPr algn="l">
              <a:spcAft>
                <a:spcPts val="600"/>
              </a:spcAft>
            </a:pPr>
            <a:r>
              <a:rPr sz="3600" b="1" i="0">
                <a:solidFill>
                  <a:srgbClr val="F2A900"/>
                </a:solidFill>
                <a:latin typeface="Cambria"/>
              </a:rPr>
              <a:t>13</a:t>
            </a:r>
          </a:p>
        </p:txBody>
      </p:sp>
      <p:sp>
        <p:nvSpPr>
          <p:cNvPr id="10" name="TextBox 9"/>
          <p:cNvSpPr txBox="1"/>
          <p:nvPr/>
        </p:nvSpPr>
        <p:spPr>
          <a:xfrm>
            <a:off x="2011680" y="3319272"/>
            <a:ext cx="5029200" cy="365760"/>
          </a:xfrm>
          <a:prstGeom prst="rect">
            <a:avLst/>
          </a:prstGeom>
          <a:noFill/>
        </p:spPr>
        <p:txBody>
          <a:bodyPr wrap="square" anchor="t" lIns="0" rIns="0" tIns="0" bIns="0">
            <a:spAutoFit/>
          </a:bodyPr>
          <a:lstStyle/>
          <a:p>
            <a:pPr algn="l">
              <a:spcAft>
                <a:spcPts val="600"/>
              </a:spcAft>
            </a:pPr>
            <a:r>
              <a:rPr sz="1700" b="1" i="0">
                <a:solidFill>
                  <a:srgbClr val="1F2A36"/>
                </a:solidFill>
                <a:latin typeface="Calibri"/>
              </a:rPr>
              <a:t>SDK tests</a:t>
            </a:r>
          </a:p>
        </p:txBody>
      </p:sp>
      <p:sp>
        <p:nvSpPr>
          <p:cNvPr id="11" name="TextBox 10"/>
          <p:cNvSpPr txBox="1"/>
          <p:nvPr/>
        </p:nvSpPr>
        <p:spPr>
          <a:xfrm>
            <a:off x="2011680" y="3703320"/>
            <a:ext cx="5029200" cy="594360"/>
          </a:xfrm>
          <a:prstGeom prst="rect">
            <a:avLst/>
          </a:prstGeom>
          <a:noFill/>
        </p:spPr>
        <p:txBody>
          <a:bodyPr wrap="square" anchor="t" lIns="0" rIns="0" tIns="0" bIns="0">
            <a:spAutoFit/>
          </a:bodyPr>
          <a:lstStyle/>
          <a:p>
            <a:pPr algn="l">
              <a:spcAft>
                <a:spcPts val="600"/>
              </a:spcAft>
            </a:pPr>
            <a:r>
              <a:rPr sz="1300" b="0" i="0">
                <a:solidFill>
                  <a:srgbClr val="3D4B5C"/>
                </a:solidFill>
                <a:latin typeface="Calibri"/>
              </a:rPr>
              <a:t>tox -e py3: standalone test framework, run twice for reproducibility</a:t>
            </a:r>
          </a:p>
        </p:txBody>
      </p:sp>
      <p:sp>
        <p:nvSpPr>
          <p:cNvPr id="12" name="Rounded Rectangle 11"/>
          <p:cNvSpPr/>
          <p:nvPr/>
        </p:nvSpPr>
        <p:spPr>
          <a:xfrm>
            <a:off x="548640" y="4526280"/>
            <a:ext cx="6675120" cy="1188720"/>
          </a:xfrm>
          <a:prstGeom prst="roundRect">
            <a:avLst>
              <a:gd name="adj" fmla="val 8000"/>
            </a:avLst>
          </a:prstGeom>
          <a:solidFill>
            <a:srgbClr val="E8EE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188720" cy="914400"/>
          </a:xfrm>
          <a:prstGeom prst="rect">
            <a:avLst/>
          </a:prstGeom>
          <a:noFill/>
        </p:spPr>
        <p:txBody>
          <a:bodyPr wrap="square" anchor="ctr" lIns="0" rIns="0" tIns="0" bIns="0">
            <a:spAutoFit/>
          </a:bodyPr>
          <a:lstStyle/>
          <a:p>
            <a:pPr algn="l">
              <a:spcAft>
                <a:spcPts val="600"/>
              </a:spcAft>
            </a:pPr>
            <a:r>
              <a:rPr sz="3600" b="1" i="0">
                <a:solidFill>
                  <a:srgbClr val="F2A900"/>
                </a:solidFill>
                <a:latin typeface="Cambria"/>
              </a:rPr>
              <a:t>1</a:t>
            </a:r>
          </a:p>
        </p:txBody>
      </p:sp>
      <p:sp>
        <p:nvSpPr>
          <p:cNvPr id="14" name="TextBox 13"/>
          <p:cNvSpPr txBox="1"/>
          <p:nvPr/>
        </p:nvSpPr>
        <p:spPr>
          <a:xfrm>
            <a:off x="2011680" y="4690872"/>
            <a:ext cx="5029200" cy="365760"/>
          </a:xfrm>
          <a:prstGeom prst="rect">
            <a:avLst/>
          </a:prstGeom>
          <a:noFill/>
        </p:spPr>
        <p:txBody>
          <a:bodyPr wrap="square" anchor="t" lIns="0" rIns="0" tIns="0" bIns="0">
            <a:spAutoFit/>
          </a:bodyPr>
          <a:lstStyle/>
          <a:p>
            <a:pPr algn="l">
              <a:spcAft>
                <a:spcPts val="600"/>
              </a:spcAft>
            </a:pPr>
            <a:r>
              <a:rPr sz="1700" b="1" i="0">
                <a:solidFill>
                  <a:srgbClr val="1F2A36"/>
                </a:solidFill>
                <a:latin typeface="Calibri"/>
              </a:rPr>
              <a:t>test tree</a:t>
            </a:r>
          </a:p>
        </p:txBody>
      </p:sp>
      <p:sp>
        <p:nvSpPr>
          <p:cNvPr id="15" name="TextBox 14"/>
          <p:cNvSpPr txBox="1"/>
          <p:nvPr/>
        </p:nvSpPr>
        <p:spPr>
          <a:xfrm>
            <a:off x="2011680" y="5074920"/>
            <a:ext cx="5029200" cy="594360"/>
          </a:xfrm>
          <a:prstGeom prst="rect">
            <a:avLst/>
          </a:prstGeom>
          <a:noFill/>
        </p:spPr>
        <p:txBody>
          <a:bodyPr wrap="square" anchor="t" lIns="0" rIns="0" tIns="0" bIns="0">
            <a:spAutoFit/>
          </a:bodyPr>
          <a:lstStyle/>
          <a:p>
            <a:pPr algn="l">
              <a:spcAft>
                <a:spcPts val="600"/>
              </a:spcAft>
            </a:pPr>
            <a:r>
              <a:rPr sz="1300" b="0" i="0">
                <a:solidFill>
                  <a:srgbClr val="3D4B5C"/>
                </a:solidFill>
                <a:latin typeface="Calibri"/>
              </a:rPr>
              <a:t>testdata/practical_exercise.zip → tools/tree_to_testdata.py, Hansken-form paths</a:t>
            </a:r>
          </a:p>
        </p:txBody>
      </p:sp>
      <p:sp>
        <p:nvSpPr>
          <p:cNvPr id="16" name="Rounded Rectangle 15"/>
          <p:cNvSpPr/>
          <p:nvPr/>
        </p:nvSpPr>
        <p:spPr>
          <a:xfrm>
            <a:off x="7589520" y="1783080"/>
            <a:ext cx="4069080" cy="3931920"/>
          </a:xfrm>
          <a:prstGeom prst="roundRect">
            <a:avLst>
              <a:gd name="adj" fmla="val 8000"/>
            </a:avLst>
          </a:prstGeom>
          <a:solidFill>
            <a:srgbClr val="1F2A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1965960"/>
            <a:ext cx="3566160" cy="457200"/>
          </a:xfrm>
          <a:prstGeom prst="rect">
            <a:avLst/>
          </a:prstGeom>
          <a:noFill/>
        </p:spPr>
        <p:txBody>
          <a:bodyPr wrap="square" anchor="t" lIns="0" rIns="0" tIns="0" bIns="0">
            <a:spAutoFit/>
          </a:bodyPr>
          <a:lstStyle/>
          <a:p>
            <a:pPr algn="l">
              <a:spcAft>
                <a:spcPts val="600"/>
              </a:spcAft>
            </a:pPr>
            <a:r>
              <a:rPr sz="2000" b="1" i="0">
                <a:solidFill>
                  <a:srgbClr val="F2A900"/>
                </a:solidFill>
                <a:latin typeface="Cambria"/>
              </a:rPr>
              <a:t>Hansken runs</a:t>
            </a:r>
          </a:p>
        </p:txBody>
      </p:sp>
      <p:sp>
        <p:nvSpPr>
          <p:cNvPr id="18" name="TextBox 17"/>
          <p:cNvSpPr txBox="1"/>
          <p:nvPr/>
        </p:nvSpPr>
        <p:spPr>
          <a:xfrm>
            <a:off x="7863840" y="2560320"/>
            <a:ext cx="3566160" cy="3017520"/>
          </a:xfrm>
          <a:prstGeom prst="rect">
            <a:avLst/>
          </a:prstGeom>
          <a:noFill/>
        </p:spPr>
        <p:txBody>
          <a:bodyPr wrap="square" anchor="t" lIns="0" rIns="0" tIns="0" bIns="0">
            <a:spAutoFit/>
          </a:bodyPr>
          <a:lstStyle/>
          <a:p>
            <a:pPr algn="l" marL="228600" indent="-182880">
              <a:spcAft>
                <a:spcPts val="600"/>
              </a:spcAft>
              <a:buChar char="•"/>
            </a:pPr>
            <a:r>
              <a:rPr sz="1400" b="0" i="0">
                <a:solidFill>
                  <a:srgbClr val="FFFFFF"/>
                </a:solidFill>
                <a:latin typeface="Calibri"/>
              </a:rPr>
              <a:t>Image built on schramp.com with tox -e package</a:t>
            </a:r>
          </a:p>
          <a:p>
            <a:pPr algn="l" marL="228600" indent="-182880">
              <a:spcAft>
                <a:spcPts val="600"/>
              </a:spcAft>
              <a:buChar char="•"/>
            </a:pPr>
            <a:r>
              <a:rPr sz="1400" b="0" i="0">
                <a:solidFill>
                  <a:srgbClr val="FFFFFF"/>
                </a:solidFill>
                <a:latin typeface="Calibri"/>
              </a:rPr>
              <a:t>serve_plugin -vvv + debug logging per glob</a:t>
            </a:r>
          </a:p>
          <a:p>
            <a:pPr algn="l" marL="228600" indent="-182880">
              <a:spcAft>
                <a:spcPts val="600"/>
              </a:spcAft>
              <a:buChar char="•"/>
            </a:pPr>
            <a:r>
              <a:rPr sz="1400" b="0" i="0">
                <a:solidFill>
                  <a:srgbClr val="FFFFFF"/>
                </a:solidFill>
                <a:latin typeface="Calibri"/>
              </a:rPr>
              <a:t>The log found the last bug: file.path has no leading slash</a:t>
            </a:r>
          </a:p>
        </p:txBody>
      </p:sp>
      <p:sp>
        <p:nvSpPr>
          <p:cNvPr id="19" name="TextBox 18"/>
          <p:cNvSpPr txBox="1"/>
          <p:nvPr/>
        </p:nvSpPr>
        <p:spPr>
          <a:xfrm>
            <a:off x="548640" y="6035040"/>
            <a:ext cx="10972800" cy="365760"/>
          </a:xfrm>
          <a:prstGeom prst="rect">
            <a:avLst/>
          </a:prstGeom>
          <a:noFill/>
        </p:spPr>
        <p:txBody>
          <a:bodyPr wrap="square" anchor="t" lIns="0" rIns="0" tIns="0" bIns="0">
            <a:spAutoFit/>
          </a:bodyPr>
          <a:lstStyle/>
          <a:p>
            <a:pPr algn="l">
              <a:spcAft>
                <a:spcPts val="600"/>
              </a:spcAft>
            </a:pPr>
            <a:r>
              <a:rPr sz="1200" b="0" i="1">
                <a:solidFill>
                  <a:srgbClr val="6B7A8A"/>
                </a:solidFill>
                <a:latin typeface="Calibri"/>
              </a:rPr>
              <a:t>Known quirk: SDK 0.10.0 test_plugin needs --skip-java-version-check for 4-part Java versions.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2A36"/>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anchor="t" lIns="0" rIns="0" tIns="0" bIns="0">
            <a:spAutoFit/>
          </a:bodyPr>
          <a:lstStyle/>
          <a:p>
            <a:pPr algn="l">
              <a:spcAft>
                <a:spcPts val="600"/>
              </a:spcAft>
            </a:pPr>
            <a:r>
              <a:rPr sz="3600" b="1" i="0">
                <a:solidFill>
                  <a:srgbClr val="FFFFFF"/>
                </a:solidFill>
                <a:latin typeface="Cambria"/>
              </a:rPr>
              <a:t>Status and next steps</a:t>
            </a:r>
          </a:p>
        </p:txBody>
      </p:sp>
      <p:sp>
        <p:nvSpPr>
          <p:cNvPr id="3" name="Oval 2"/>
          <p:cNvSpPr/>
          <p:nvPr/>
        </p:nvSpPr>
        <p:spPr>
          <a:xfrm>
            <a:off x="548640" y="1463040"/>
            <a:ext cx="548640" cy="548640"/>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4" name="TextBox 3"/>
          <p:cNvSpPr txBox="1"/>
          <p:nvPr/>
        </p:nvSpPr>
        <p:spPr>
          <a:xfrm>
            <a:off x="1280160" y="1508760"/>
            <a:ext cx="3657600" cy="457200"/>
          </a:xfrm>
          <a:prstGeom prst="rect">
            <a:avLst/>
          </a:prstGeom>
          <a:noFill/>
        </p:spPr>
        <p:txBody>
          <a:bodyPr wrap="square" anchor="t" lIns="0" rIns="0" tIns="0" bIns="0">
            <a:spAutoFit/>
          </a:bodyPr>
          <a:lstStyle/>
          <a:p>
            <a:pPr algn="l">
              <a:spcAft>
                <a:spcPts val="600"/>
              </a:spcAft>
            </a:pPr>
            <a:r>
              <a:rPr sz="2400" b="1" i="0">
                <a:solidFill>
                  <a:srgbClr val="FFFFFF"/>
                </a:solidFill>
                <a:latin typeface="Cambria"/>
              </a:rPr>
              <a:t>Done</a:t>
            </a:r>
          </a:p>
        </p:txBody>
      </p:sp>
      <p:sp>
        <p:nvSpPr>
          <p:cNvPr id="5" name="TextBox 4"/>
          <p:cNvSpPr txBox="1"/>
          <p:nvPr/>
        </p:nvSpPr>
        <p:spPr>
          <a:xfrm>
            <a:off x="548640" y="2286000"/>
            <a:ext cx="5394960" cy="3931920"/>
          </a:xfrm>
          <a:prstGeom prst="rect">
            <a:avLst/>
          </a:prstGeom>
          <a:noFill/>
        </p:spPr>
        <p:txBody>
          <a:bodyPr wrap="square" anchor="t" lIns="0" rIns="0" tIns="0" bIns="0">
            <a:spAutoFit/>
          </a:bodyPr>
          <a:lstStyle/>
          <a:p>
            <a:pPr algn="l" marL="228600" indent="-182880">
              <a:spcAft>
                <a:spcPts val="800"/>
              </a:spcAft>
              <a:buChar char="•"/>
            </a:pPr>
            <a:r>
              <a:rPr sz="1600" b="0" i="0">
                <a:solidFill>
                  <a:srgbClr val="E8EEF3"/>
                </a:solidFill>
                <a:latin typeface="Calibri"/>
              </a:rPr>
              <a:t>#13 anchor rules and conflict checker</a:t>
            </a:r>
          </a:p>
          <a:p>
            <a:pPr algn="l" marL="228600" indent="-182880">
              <a:spcAft>
                <a:spcPts val="800"/>
              </a:spcAft>
              <a:buChar char="•"/>
            </a:pPr>
            <a:r>
              <a:rPr sz="1600" b="0" i="0">
                <a:solidFill>
                  <a:srgbClr val="E8EEF3"/>
                </a:solidFill>
                <a:latin typeface="Calibri"/>
              </a:rPr>
              <a:t>#14 RPC channel between the venvs</a:t>
            </a:r>
          </a:p>
          <a:p>
            <a:pPr algn="l" marL="228600" indent="-182880">
              <a:spcAft>
                <a:spcPts val="800"/>
              </a:spcAft>
              <a:buChar char="•"/>
            </a:pPr>
            <a:r>
              <a:rPr sz="1600" b="0" i="0">
                <a:solidFill>
                  <a:srgbClr val="E8EEF3"/>
                </a:solidFill>
                <a:latin typeface="Calibri"/>
              </a:rPr>
              <a:t>#15 HanskenSeeker: files on demand</a:t>
            </a:r>
          </a:p>
          <a:p>
            <a:pPr algn="l" marL="228600" indent="-182880">
              <a:spcAft>
                <a:spcPts val="800"/>
              </a:spcAft>
              <a:buChar char="•"/>
            </a:pPr>
            <a:r>
              <a:rPr sz="1600" b="0" i="0">
                <a:solidFill>
                  <a:srgbClr val="E8EEF3"/>
                </a:solidFill>
                <a:latin typeface="Calibri"/>
              </a:rPr>
              <a:t>#4 one run per anchor, matcher from ALEAPP</a:t>
            </a:r>
          </a:p>
          <a:p>
            <a:pPr algn="l" marL="228600" indent="-182880">
              <a:spcAft>
                <a:spcPts val="800"/>
              </a:spcAft>
              <a:buChar char="•"/>
            </a:pPr>
            <a:r>
              <a:rPr sz="1600" b="0" i="0">
                <a:solidFill>
                  <a:srgbClr val="E8EEF3"/>
                </a:solidFill>
                <a:latin typeface="Calibri"/>
              </a:rPr>
              <a:t>#24 module selection profile</a:t>
            </a:r>
          </a:p>
          <a:p>
            <a:pPr algn="l" marL="228600" indent="-182880">
              <a:spcAft>
                <a:spcPts val="800"/>
              </a:spcAft>
              <a:buChar char="•"/>
            </a:pPr>
            <a:r>
              <a:rPr sz="1600" b="0" i="0">
                <a:solidFill>
                  <a:srgbClr val="E8EEF3"/>
                </a:solidFill>
                <a:latin typeface="Calibri"/>
              </a:rPr>
              <a:t>#11 LAVA child traces</a:t>
            </a:r>
          </a:p>
          <a:p>
            <a:pPr algn="l" marL="228600" indent="-182880">
              <a:spcAft>
                <a:spcPts val="800"/>
              </a:spcAft>
              <a:buChar char="•"/>
            </a:pPr>
            <a:r>
              <a:rPr sz="1600" b="0" i="0">
                <a:solidFill>
                  <a:srgbClr val="E8EEF3"/>
                </a:solidFill>
                <a:latin typeface="Calibri"/>
              </a:rPr>
              <a:t>#21, #26 recursion and path fixes</a:t>
            </a:r>
          </a:p>
        </p:txBody>
      </p:sp>
      <p:sp>
        <p:nvSpPr>
          <p:cNvPr id="6" name="Oval 5"/>
          <p:cNvSpPr/>
          <p:nvPr/>
        </p:nvSpPr>
        <p:spPr>
          <a:xfrm>
            <a:off x="6217920" y="1463040"/>
            <a:ext cx="548640" cy="548640"/>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1F2A36"/>
                </a:solidFill>
                <a:latin typeface="Calibri"/>
              </a:rPr>
              <a:t>→</a:t>
            </a:r>
          </a:p>
        </p:txBody>
      </p:sp>
      <p:sp>
        <p:nvSpPr>
          <p:cNvPr id="7" name="TextBox 6"/>
          <p:cNvSpPr txBox="1"/>
          <p:nvPr/>
        </p:nvSpPr>
        <p:spPr>
          <a:xfrm>
            <a:off x="6949440" y="1508760"/>
            <a:ext cx="3657600" cy="457200"/>
          </a:xfrm>
          <a:prstGeom prst="rect">
            <a:avLst/>
          </a:prstGeom>
          <a:noFill/>
        </p:spPr>
        <p:txBody>
          <a:bodyPr wrap="square" anchor="t" lIns="0" rIns="0" tIns="0" bIns="0">
            <a:spAutoFit/>
          </a:bodyPr>
          <a:lstStyle/>
          <a:p>
            <a:pPr algn="l">
              <a:spcAft>
                <a:spcPts val="600"/>
              </a:spcAft>
            </a:pPr>
            <a:r>
              <a:rPr sz="2400" b="1" i="0">
                <a:solidFill>
                  <a:srgbClr val="FFFFFF"/>
                </a:solidFill>
                <a:latin typeface="Cambria"/>
              </a:rPr>
              <a:t>Next</a:t>
            </a:r>
          </a:p>
        </p:txBody>
      </p:sp>
      <p:sp>
        <p:nvSpPr>
          <p:cNvPr id="8" name="TextBox 7"/>
          <p:cNvSpPr txBox="1"/>
          <p:nvPr/>
        </p:nvSpPr>
        <p:spPr>
          <a:xfrm>
            <a:off x="6217920" y="2286000"/>
            <a:ext cx="5394960" cy="3931920"/>
          </a:xfrm>
          <a:prstGeom prst="rect">
            <a:avLst/>
          </a:prstGeom>
          <a:noFill/>
        </p:spPr>
        <p:txBody>
          <a:bodyPr wrap="square" anchor="t" lIns="0" rIns="0" tIns="0" bIns="0">
            <a:spAutoFit/>
          </a:bodyPr>
          <a:lstStyle/>
          <a:p>
            <a:pPr algn="l" marL="228600" indent="-182880">
              <a:spcAft>
                <a:spcPts val="800"/>
              </a:spcAft>
              <a:buChar char="•"/>
            </a:pPr>
            <a:r>
              <a:rPr sz="1600" b="0" i="0">
                <a:solidFill>
                  <a:srgbClr val="E8EEF3"/>
                </a:solidFill>
                <a:latin typeface="Calibri"/>
              </a:rPr>
              <a:t>#10 real-Hansken checks: folder anchors, quoting</a:t>
            </a:r>
          </a:p>
          <a:p>
            <a:pPr algn="l" marL="228600" indent="-182880">
              <a:spcAft>
                <a:spcPts val="800"/>
              </a:spcAft>
              <a:buChar char="•"/>
            </a:pPr>
            <a:r>
              <a:rPr sz="1600" b="0" i="0">
                <a:solidFill>
                  <a:srgbClr val="E8EEF3"/>
                </a:solidFill>
                <a:latin typeface="Calibri"/>
              </a:rPr>
              <a:t>#8 events and geolocations as Hansken types</a:t>
            </a:r>
          </a:p>
          <a:p>
            <a:pPr algn="l" marL="228600" indent="-182880">
              <a:spcAft>
                <a:spcPts val="800"/>
              </a:spcAft>
              <a:buChar char="•"/>
            </a:pPr>
            <a:r>
              <a:rPr sz="1600" b="0" i="0">
                <a:solidFill>
                  <a:srgbClr val="E8EEF3"/>
                </a:solidFill>
                <a:latin typeface="Calibri"/>
              </a:rPr>
              <a:t>#3 file.path prefixes</a:t>
            </a:r>
          </a:p>
          <a:p>
            <a:pPr algn="l" marL="228600" indent="-182880">
              <a:spcAft>
                <a:spcPts val="800"/>
              </a:spcAft>
              <a:buChar char="•"/>
            </a:pPr>
            <a:r>
              <a:rPr sz="1600" b="0" i="0">
                <a:solidFill>
                  <a:srgbClr val="E8EEF3"/>
                </a:solidFill>
                <a:latin typeface="Calibri"/>
              </a:rPr>
              <a:t>#7 Docker image and integration test</a:t>
            </a:r>
          </a:p>
          <a:p>
            <a:pPr algn="l" marL="228600" indent="-182880">
              <a:spcAft>
                <a:spcPts val="800"/>
              </a:spcAft>
              <a:buChar char="•"/>
            </a:pPr>
            <a:r>
              <a:rPr sz="1600" b="0" i="0">
                <a:solidFill>
                  <a:srgbClr val="E8EEF3"/>
                </a:solidFill>
                <a:latin typeface="Calibri"/>
              </a:rPr>
              <a:t>#12 temp disk and memory use</a:t>
            </a:r>
          </a:p>
          <a:p>
            <a:pPr algn="l" marL="228600" indent="-182880">
              <a:spcAft>
                <a:spcPts val="800"/>
              </a:spcAft>
              <a:buChar char="•"/>
            </a:pPr>
            <a:r>
              <a:rPr sz="1600" b="0" i="0">
                <a:solidFill>
                  <a:srgbClr val="E8EEF3"/>
                </a:solidFill>
                <a:latin typeface="Calibri"/>
              </a:rPr>
              <a:t>#6 richer output, #9 upstream bugs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